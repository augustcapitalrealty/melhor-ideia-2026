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Quero começar pela dor do processo de contratação. Não é apenas o tempo para preencher uma planilha: é o esforço para entender propostas, esclarecer diferenças e refazer o trabalho quando a aprovação devolve dúvidas. Vamos olhar primeiro como esse retrabalho aparece, depois onde podemos atuar e quais benefícios buscamos.
Apoio à fala: Por que uma contratação exige tantas idas e vindas?
Produtividade no processo de contratação · Melhor Ideia 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Hoje, conforme o fluxo das equipes, o escopo é elaborado no Google Slides ou PowerPoint e a EAP é montada em uma planilha separada. Nos três Megas, o detalhamento varia na combinação de texto e fotos. A planilha desse fluxo não tem validadores nem conexão com uma base de dados. Copiar e colar pode trocar quantidades ou unidades; linhas e fórmulas podem ser alteradas; um item pode ficar de fora. Também é necessário conferir manualmente se a versão do escopo corresponde à cotada. A consistência depende da atenção e do conhecimento de quem monta os arquivos.
Apoio à fala: Escopo no Google Slides ou PowerPoint. EAP em uma planilha separada.
Facilities e Propriedades · Curitiba, Esteio e Itajaí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pedido deixa margem para interpretação, cada fornecedor considera uma coisa. Um separa materiais e mão de obra; outro deixa serviços de fora; outro retorna apenas um preço global. Uma proposta de vinte mil reais não diz, sozinha, o que será entregue. Esse valor é apenas um exemplo. A equipe precisa explorar as composições, confirmar quantidades, marcas, inclusões e exclusões, e pedir esclarecimentos. A dor é reconstruir a informação antes de conseguir comparar propostas equivalentes.
Apoio à fala: Um fornecedor detalha. Outro omite. Outro apresenta só o total.
Antes de comparar preços, é preciso descobrir o que cada proposta inclui.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pode aparecer só na aprovação. O avaliador pergunta se todos consideraram o mesmo serviço, por que as quantidades diferem ou o que está dentro do preço global. Se a resposta não está clara, o processo retorna para quem cotou. Essa pessoa volta aos arquivos, fala novamente com os fornecedores, explora as propostas, revisa os dados e remonta a equalização. Depois, reenvia para aprovação. Além do tempo de correção, há espera por respostas e repetição da conferência. É esse ciclo de retorno que queremos reduzir.
Apoio à fala: Quem cotou precisa reabrir propostas, esclarecer diferenças e refazer a comparação.
Esclarecer → revisar → remontar → reenviar para aprovação.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que vimos a dor, podemos localizar os pontos de atuação. Primeiro, definir melhor o pedido antes de solicitar preços: serviços, fotos, quantidades, unidades e condições. Segundo, dar ao fornecedor uma estrutura comum para responder, sem reconstruir a lista depois. Terceiro, apoiar a conferência e a aprovação com a informação conectada. A ideia é investir atenção onde o erro nasce, para reduzir o esforço que provoca nas etapas seguintes. São benefícios esperados; a qualidade técnica ainda depende da revisão do responsável.
Apoio à fala: Na definição do pedido, na resposta do fornecedor e na conferência para aprovação.
Benefícios buscados: menos omissões, redigitação e devoluções.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Hoje precisamos manter alinhados uma apresentação, uma planilha e as respostas dos fornecedores. Além da redigitação, há riscos de fórmulas alteradas, itens esquecidos, unidades inconsistentes, versões diferentes e perda de rastreabilidade. Sem validadores e conexão com os cadastros e o histórico, a pesquisa e a conferência também ficam manuais. A solução conecta escopo, EAP, cadastro, preços e equalização. Campos e validações ajudam a identificar inconsistências; o reaproveitamento evita reconstruir a mesma lista. Isso não elimina toda possibilidade de erro nem substitui a análise técnica. O ganho buscado é concentrar o trabalho em uma base comum e tornar a conferência mais simples.
Apoio à fala: Hoje: arquivos separados. Com a solução: informações conectadas desde o escopo.
Centralizar para conferir melhor e reaproveitar 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responsável monta o escopo com fotos junto aos grupos e define a EAP com descrição, quantidade, unidade e marca de referência. A numeração é automática. O sistema gera o Excel com os itens preenchidos e os preços em branco. O fornecedor preenche essa estrutura. Ao montar a equalização, a equipe seleciona a revisão do escopo enviada e carrega a mesma lista, depois informa ou cola os preços. Ainda é necessário conferir omissões, marcas alternativas e condições. A vantagem é uma referência comum desde o começo, sem redigitar os itens.
Apoio à fala: Definir uma vez. Enviar os mesmos itens. Acrescentar os preços.
Envio e retorno do Excel são externos; a equipe informa ou cola os preços.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equalização mais inteligente é um apoio adicional ao processo. O avaliador encontra itens e marcas organizados, referências de preços anteriores, indicadores e o registro da justificativa e da negociação. Os indicadores de avaliação dos fornecedores acrescentam contexto sobre entregas anteriores, respeitando a quantidade de avaliações disponível. Esses recursos ajudam a localizar diferenças e fundamentar a aprovação. A decisão continua sendo das pessoas, e a negociação acontece entre comprador e fornecedor. O benefício buscado é reduzir dúvidas evitáveis na aprovação.
Apoio à fala: O avaliador precisa entender o que está comparando, além do preço.
Indicadores, referências e justificativa apoiam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trabalho de uma contratação alimenta um histórico compartilhado. Podemos consultar o escopo e sua revisão, as equalizações anteriores, os preços e os fornecedores identificados por CNPJ. Isso facilita localizar a referência e entender de onde veio a informação. A consulta cadastral pública usa a BrasilAPI, e não uma integração direta com a Receita Federal. O cadastro interno e o preenchimento manual continuam disponíveis. O benefício é reaproveitar o trabalho e apoiar a próxima contratação sem depender apenas de arquivos espalhados ou de quem participou da compra anterior.
Apoio à fala: Escopos, equalizações, preços e fornecedores em uma base comum.
Menos busca em arquivos. Mais reaproveitamento e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Buscamos reduzir o esforço total da contratação. Um escopo pode exigir mais atenção no início e ainda assim economizar trabalho no restante do processo. Queremos menos idas e vindas com fornecedores, menos remontagem da equalização e menos devoluções por falta de clareza. O tempo liberado pode ser usado na análise e na negociação. Precisamos verificar isso em contratações comparáveis, acompanhando tempo ativo, espera, revisões e retornos da aprovação. Não estamos apresentando um percentual de economia já comprovado.
Apoio à fala: Menos reconstrução da informação. Mais tempo para analisar e negociar.
Ganhos esperados: acompanhar tempo, revisões e retornos da aprovação.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conecta as atividades das pessoas. Quem prepara deixa clara a necessidade. Quem cota trabalha com uma base comum e concentra a atenção nas diferenças e na negociação. Quem aprova recebe contexto para decidir. Ao centralizar essas informações desde o escopo, buscamos reduzir o ruído que hoje volta como retrabalho. Esse é o sentido de Gestão de Contratações: melhorar o processo completo, desde o pedido até a aprovação e o histórico da compra.
Apoio à fala: Clareza para quem prepara, cota e aprova.
Gestão de Contratações · Facilities e Propriedades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E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06400" y="355600"/>
            <a:ext cx="8128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PRODUTIVIDADE NO PROCESSO DE CONTRATAÇÃO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06400" y="1168400"/>
            <a:ext cx="5461000" cy="1473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</a:t>
            </a:r>
            <a:endParaRPr lang="en-US" sz="3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Contratações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31800" y="2857500"/>
            <a:ext cx="4953000" cy="1143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 que uma contratação</a:t>
            </a:r>
            <a:endParaRPr lang="en-US" sz="2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exige tantas idas e vindas?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842000" y="1257300"/>
            <a:ext cx="2603500" cy="2603500"/>
          </a:xfrm>
          <a:prstGeom prst="ellipse">
            <a:avLst>
              <a:gd name="adj" fmla="val 351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48120" y="1685544"/>
            <a:ext cx="1280160" cy="1649984"/>
          </a:xfrm>
          <a:prstGeom prst="roundRect">
            <a:avLst>
              <a:gd name="adj" fmla="val 7143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77000" y="1600200"/>
            <a:ext cx="1280160" cy="164998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61912" y="1813560"/>
            <a:ext cx="526288" cy="85344"/>
          </a:xfrm>
          <a:prstGeom prst="rect">
            <a:avLst>
              <a:gd name="adj" fmla="val 107143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61912" y="2112264"/>
            <a:ext cx="128016" cy="128016"/>
          </a:xfrm>
          <a:prstGeom prst="roundRect">
            <a:avLst>
              <a:gd name="adj" fmla="val 71429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3720" y="2140712"/>
            <a:ext cx="597408" cy="56896"/>
          </a:xfrm>
          <a:prstGeom prst="rect">
            <a:avLst>
              <a:gd name="adj" fmla="val 160714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61912" y="2425192"/>
            <a:ext cx="128016" cy="128016"/>
          </a:xfrm>
          <a:prstGeom prst="roundRect">
            <a:avLst>
              <a:gd name="adj" fmla="val 71429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03720" y="2453640"/>
            <a:ext cx="597408" cy="56896"/>
          </a:xfrm>
          <a:prstGeom prst="rect">
            <a:avLst>
              <a:gd name="adj" fmla="val 160714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61912" y="2738120"/>
            <a:ext cx="128016" cy="128016"/>
          </a:xfrm>
          <a:prstGeom prst="roundRect">
            <a:avLst>
              <a:gd name="adj" fmla="val 71429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2766568"/>
            <a:ext cx="597408" cy="56896"/>
          </a:xfrm>
          <a:prstGeom prst="rect">
            <a:avLst>
              <a:gd name="adj" fmla="val 160714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16800" y="2959100"/>
            <a:ext cx="723900" cy="723900"/>
          </a:xfrm>
          <a:prstGeom prst="ellipse">
            <a:avLst>
              <a:gd name="adj" fmla="val 12632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80300" y="3086100"/>
            <a:ext cx="596900" cy="495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51E4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431800" y="4495800"/>
            <a:ext cx="7874000" cy="279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Guilherme Marques · Melhor Ideia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Hoje, arquivos e conferência manual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25500" y="1320800"/>
            <a:ext cx="1397000" cy="723900"/>
          </a:xfrm>
          <a:prstGeom prst="rect">
            <a:avLst>
              <a:gd name="adj" fmla="val 1263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2000" y="1231900"/>
            <a:ext cx="1524000" cy="101600"/>
          </a:xfrm>
          <a:prstGeom prst="rect">
            <a:avLst>
              <a:gd name="adj" fmla="val 90000"/>
            </a:avLst>
          </a:prstGeom>
          <a:solidFill>
            <a:srgbClr val="151E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525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2573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5621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8669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8000" y="21082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Curitiba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3771900" y="1320800"/>
            <a:ext cx="1397000" cy="723900"/>
          </a:xfrm>
          <a:prstGeom prst="rect">
            <a:avLst>
              <a:gd name="adj" fmla="val 1263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708400" y="1231900"/>
            <a:ext cx="1524000" cy="101600"/>
          </a:xfrm>
          <a:prstGeom prst="rect">
            <a:avLst>
              <a:gd name="adj" fmla="val 90000"/>
            </a:avLst>
          </a:prstGeom>
          <a:solidFill>
            <a:srgbClr val="151E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8989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037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5085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8133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454400" y="21082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Esteio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718300" y="1320800"/>
            <a:ext cx="1397000" cy="723900"/>
          </a:xfrm>
          <a:prstGeom prst="rect">
            <a:avLst>
              <a:gd name="adj" fmla="val 1263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54800" y="1231900"/>
            <a:ext cx="1524000" cy="101600"/>
          </a:xfrm>
          <a:prstGeom prst="rect">
            <a:avLst>
              <a:gd name="adj" fmla="val 90000"/>
            </a:avLst>
          </a:prstGeom>
          <a:solidFill>
            <a:srgbClr val="151E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453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501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4549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759700" y="1511300"/>
            <a:ext cx="190500" cy="342900"/>
          </a:xfrm>
          <a:prstGeom prst="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00800" y="21082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Itajaí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762000" y="2565400"/>
            <a:ext cx="76200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detalhamento varia entre texto, fotos e quem prepara.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158875" y="32626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7600" y="32131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24915" y="3336925"/>
            <a:ext cx="305435" cy="49530"/>
          </a:xfrm>
          <a:prstGeom prst="rect">
            <a:avLst>
              <a:gd name="adj" fmla="val 18461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224915" y="35102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365250" y="3526790"/>
            <a:ext cx="26416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24915" y="36918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65250" y="3708400"/>
            <a:ext cx="123825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224915" y="38735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365250" y="3890010"/>
            <a:ext cx="338455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2070100" y="32766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Slides / PowerPoint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1943100" y="3670300"/>
            <a:ext cx="24765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 em apresentação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5222875" y="32626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181600" y="32131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E5A4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288915" y="3336925"/>
            <a:ext cx="305435" cy="49530"/>
          </a:xfrm>
          <a:prstGeom prst="rect">
            <a:avLst>
              <a:gd name="adj" fmla="val 184615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288915" y="35102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429250" y="35267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288915" y="36918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429250" y="37084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288915" y="38735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29250" y="38900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6134100" y="3276600"/>
            <a:ext cx="25019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EAP em planilha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5956300" y="3670300"/>
            <a:ext cx="27305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 validadores ou conexão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 a base de dados</a:t>
            </a:r>
            <a:endParaRPr lang="en-US" sz="1300" dirty="0"/>
          </a:p>
        </p:txBody>
      </p:sp>
      <p:sp>
        <p:nvSpPr>
          <p:cNvPr id="52" name="Text 48"/>
          <p:cNvSpPr/>
          <p:nvPr/>
        </p:nvSpPr>
        <p:spPr>
          <a:xfrm>
            <a:off x="698500" y="4597400"/>
            <a:ext cx="7747000" cy="304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Arquivos separados. Conferência manual.</a:t>
            </a:r>
            <a:endParaRPr lang="en-US" sz="1700" dirty="0"/>
          </a:p>
        </p:txBody>
      </p:sp>
      <p:sp>
        <p:nvSpPr>
          <p:cNvPr id="53" name="Text 49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mesmo pedido. Respostas diferentes.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188720" y="1314704"/>
            <a:ext cx="1051560" cy="1355344"/>
          </a:xfrm>
          <a:prstGeom prst="roundRect">
            <a:avLst>
              <a:gd name="adj" fmla="val 8696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30300" y="1244600"/>
            <a:ext cx="1051560" cy="135534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282192" y="1419860"/>
            <a:ext cx="432308" cy="70104"/>
          </a:xfrm>
          <a:prstGeom prst="rect">
            <a:avLst>
              <a:gd name="adj" fmla="val 13043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282192" y="1665224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480820" y="1688592"/>
            <a:ext cx="37388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82192" y="1922272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480820" y="1945640"/>
            <a:ext cx="175260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282192" y="2179320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480820" y="2202688"/>
            <a:ext cx="479044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020820" y="1314704"/>
            <a:ext cx="1051560" cy="1355344"/>
          </a:xfrm>
          <a:prstGeom prst="roundRect">
            <a:avLst>
              <a:gd name="adj" fmla="val 8696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962400" y="1244600"/>
            <a:ext cx="1051560" cy="135534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E5A41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114292" y="1419860"/>
            <a:ext cx="432308" cy="70104"/>
          </a:xfrm>
          <a:prstGeom prst="rect">
            <a:avLst>
              <a:gd name="adj" fmla="val 130435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114292" y="1665224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12920" y="1688592"/>
            <a:ext cx="49072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114292" y="1922272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FCE8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312920" y="1945640"/>
            <a:ext cx="49072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114292" y="2179320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312920" y="2202688"/>
            <a:ext cx="49072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055872" y="1840484"/>
            <a:ext cx="268732" cy="221996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4" b="1" dirty="0">
                <a:solidFill>
                  <a:srgbClr val="8C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</a:t>
            </a:r>
            <a:endParaRPr lang="en-US" sz="1104" dirty="0"/>
          </a:p>
        </p:txBody>
      </p:sp>
      <p:sp>
        <p:nvSpPr>
          <p:cNvPr id="27" name="Shape 23"/>
          <p:cNvSpPr/>
          <p:nvPr/>
        </p:nvSpPr>
        <p:spPr>
          <a:xfrm>
            <a:off x="6852920" y="1314704"/>
            <a:ext cx="1051560" cy="1355344"/>
          </a:xfrm>
          <a:prstGeom prst="roundRect">
            <a:avLst>
              <a:gd name="adj" fmla="val 8696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794500" y="1244600"/>
            <a:ext cx="1051560" cy="135534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D64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946392" y="1419860"/>
            <a:ext cx="432308" cy="70104"/>
          </a:xfrm>
          <a:prstGeom prst="rect">
            <a:avLst>
              <a:gd name="adj" fmla="val 130435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946392" y="1665224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145020" y="1688592"/>
            <a:ext cx="49072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946392" y="1922272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145020" y="1945640"/>
            <a:ext cx="49072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46392" y="2179320"/>
            <a:ext cx="105156" cy="105156"/>
          </a:xfrm>
          <a:prstGeom prst="roundRect">
            <a:avLst>
              <a:gd name="adj" fmla="val 86957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145020" y="2202688"/>
            <a:ext cx="490728" cy="46736"/>
          </a:xfrm>
          <a:prstGeom prst="rect">
            <a:avLst>
              <a:gd name="adj" fmla="val 195652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343648" y="2272792"/>
            <a:ext cx="467360" cy="23368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96" b="1" dirty="0">
                <a:solidFill>
                  <a:srgbClr val="D645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</a:t>
            </a:r>
            <a:endParaRPr lang="en-US" sz="1196" dirty="0"/>
          </a:p>
        </p:txBody>
      </p:sp>
      <p:sp>
        <p:nvSpPr>
          <p:cNvPr id="37" name="Text 33"/>
          <p:cNvSpPr/>
          <p:nvPr/>
        </p:nvSpPr>
        <p:spPr>
          <a:xfrm>
            <a:off x="508000" y="2832100"/>
            <a:ext cx="24511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Detalhado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3340100" y="2832100"/>
            <a:ext cx="24511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Item faltando</a:t>
            </a:r>
            <a:endParaRPr lang="en-US" sz="1800" dirty="0"/>
          </a:p>
        </p:txBody>
      </p:sp>
      <p:sp>
        <p:nvSpPr>
          <p:cNvPr id="39" name="Text 35"/>
          <p:cNvSpPr/>
          <p:nvPr/>
        </p:nvSpPr>
        <p:spPr>
          <a:xfrm>
            <a:off x="6172200" y="2832100"/>
            <a:ext cx="24511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Preço global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482600" y="3327400"/>
            <a:ext cx="24892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que está incluído?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3314700" y="3327400"/>
            <a:ext cx="24892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quantidade é a mesma?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6146800" y="3327400"/>
            <a:ext cx="24892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Material e instalação?</a:t>
            </a:r>
            <a:endParaRPr lang="en-US" sz="1300" dirty="0"/>
          </a:p>
        </p:txBody>
      </p:sp>
      <p:sp>
        <p:nvSpPr>
          <p:cNvPr id="43" name="Text 39"/>
          <p:cNvSpPr/>
          <p:nvPr/>
        </p:nvSpPr>
        <p:spPr>
          <a:xfrm>
            <a:off x="635000" y="4165600"/>
            <a:ext cx="7874000" cy="406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Antes de comparar, é preciso investigar.</a:t>
            </a:r>
            <a:endParaRPr lang="en-US" sz="2300" dirty="0"/>
          </a:p>
        </p:txBody>
      </p:sp>
      <p:sp>
        <p:nvSpPr>
          <p:cNvPr id="44" name="Text 40"/>
          <p:cNvSpPr/>
          <p:nvPr/>
        </p:nvSpPr>
        <p:spPr>
          <a:xfrm>
            <a:off x="635000" y="4635500"/>
            <a:ext cx="7874000" cy="419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Quem cotou precisa abrir cada proposta e esclarecer as diferenças.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aprovação, a dúvida faz tudo voltar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438275" y="15608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397000" y="15113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504315" y="16351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504315" y="18084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644650" y="18249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504315" y="19900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644650" y="20066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504315" y="21717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644650" y="21882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1500" y="26416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Cotação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2832100" y="1955800"/>
            <a:ext cx="7239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152900" y="2044700"/>
            <a:ext cx="241300" cy="381000"/>
          </a:xfrm>
          <a:prstGeom prst="roundRect">
            <a:avLst>
              <a:gd name="adj" fmla="val 3789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495800" y="1816100"/>
            <a:ext cx="241300" cy="609600"/>
          </a:xfrm>
          <a:prstGeom prst="roundRect">
            <a:avLst>
              <a:gd name="adj" fmla="val 3789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38700" y="1600200"/>
            <a:ext cx="241300" cy="825500"/>
          </a:xfrm>
          <a:prstGeom prst="roundRect">
            <a:avLst>
              <a:gd name="adj" fmla="val 3789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9800" y="26416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Equalização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740400" y="1955800"/>
            <a:ext cx="723900" cy="203200"/>
          </a:xfrm>
          <a:prstGeom prst="rightArrow">
            <a:avLst>
              <a:gd name="adj" fmla="val 45000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62825" y="15113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200900" y="18637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296150" y="2206625"/>
            <a:ext cx="161925" cy="333375"/>
          </a:xfrm>
          <a:prstGeom prst="rect">
            <a:avLst>
              <a:gd name="adj" fmla="val 56471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553325" y="2206625"/>
            <a:ext cx="161925" cy="333375"/>
          </a:xfrm>
          <a:prstGeom prst="rect">
            <a:avLst>
              <a:gd name="adj" fmla="val 56471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388100" y="2641600"/>
            <a:ext cx="2413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Aprovação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1663700" y="3238500"/>
            <a:ext cx="5880100" cy="38100"/>
          </a:xfrm>
          <a:prstGeom prst="rect">
            <a:avLst>
              <a:gd name="adj" fmla="val 240000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518400" y="3060700"/>
            <a:ext cx="38100" cy="215900"/>
          </a:xfrm>
          <a:prstGeom prst="rect">
            <a:avLst>
              <a:gd name="adj" fmla="val 240000"/>
            </a:avLst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143000" y="3098800"/>
            <a:ext cx="736600" cy="406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D6454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←</a:t>
            </a:r>
            <a:endParaRPr lang="en-US" sz="2300" dirty="0"/>
          </a:p>
        </p:txBody>
      </p:sp>
      <p:sp>
        <p:nvSpPr>
          <p:cNvPr id="32" name="Text 28"/>
          <p:cNvSpPr/>
          <p:nvPr/>
        </p:nvSpPr>
        <p:spPr>
          <a:xfrm>
            <a:off x="2438400" y="3429000"/>
            <a:ext cx="4775200" cy="406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C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Dúvidas na aprovação → devolução</a:t>
            </a:r>
            <a:endParaRPr lang="en-US" sz="1800" dirty="0"/>
          </a:p>
        </p:txBody>
      </p:sp>
      <p:sp>
        <p:nvSpPr>
          <p:cNvPr id="33" name="Text 29"/>
          <p:cNvSpPr/>
          <p:nvPr/>
        </p:nvSpPr>
        <p:spPr>
          <a:xfrm>
            <a:off x="609600" y="4013200"/>
            <a:ext cx="79248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Quem cotou volta aos fornecedores, explora as propostas,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revisa a equalização e reenvia para aprovação.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723900" y="4724400"/>
            <a:ext cx="7696200" cy="2667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C1D1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Mais correção + mais espera + nova conferência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podemos atacar o retrabalho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92200" y="1346200"/>
            <a:ext cx="1270000" cy="1270000"/>
          </a:xfrm>
          <a:prstGeom prst="ellipse">
            <a:avLst>
              <a:gd name="adj" fmla="val 72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38275" y="15227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97000" y="14732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504315" y="15970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504315" y="17703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644650" y="17868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504315" y="19519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644650" y="19685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504315" y="21336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644650" y="21501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2600" y="2806700"/>
            <a:ext cx="25146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Definir o pedido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82600" y="3352800"/>
            <a:ext cx="25146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Serviços, fotos, quantidades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 condições claras.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82600" y="4254500"/>
            <a:ext cx="25146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omissões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3924300" y="1346200"/>
            <a:ext cx="1270000" cy="1270000"/>
          </a:xfrm>
          <a:prstGeom prst="ellipse">
            <a:avLst>
              <a:gd name="adj" fmla="val 72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270375" y="15227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229100" y="14732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336415" y="15970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336415" y="17703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476750" y="17868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336415" y="19519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4476750" y="19685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6415" y="21336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476750" y="21501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3314700" y="2806700"/>
            <a:ext cx="25146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Padronizar retorno</a:t>
            </a:r>
            <a:endParaRPr lang="en-US" sz="1700" dirty="0"/>
          </a:p>
        </p:txBody>
      </p:sp>
      <p:sp>
        <p:nvSpPr>
          <p:cNvPr id="32" name="Text 28"/>
          <p:cNvSpPr/>
          <p:nvPr/>
        </p:nvSpPr>
        <p:spPr>
          <a:xfrm>
            <a:off x="3314700" y="3352800"/>
            <a:ext cx="25146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mesmos itens para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todos os fornecedores.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3314700" y="4254500"/>
            <a:ext cx="25146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redigitação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6756400" y="1346200"/>
            <a:ext cx="1270000" cy="1270000"/>
          </a:xfrm>
          <a:prstGeom prst="ellipse">
            <a:avLst>
              <a:gd name="adj" fmla="val 72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908800" y="1473200"/>
            <a:ext cx="990600" cy="990600"/>
          </a:xfrm>
          <a:prstGeom prst="ellipse">
            <a:avLst>
              <a:gd name="adj" fmla="val 923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959600" y="1676400"/>
            <a:ext cx="889000" cy="609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3200" dirty="0"/>
          </a:p>
        </p:txBody>
      </p:sp>
      <p:sp>
        <p:nvSpPr>
          <p:cNvPr id="37" name="Text 33"/>
          <p:cNvSpPr/>
          <p:nvPr/>
        </p:nvSpPr>
        <p:spPr>
          <a:xfrm>
            <a:off x="6146800" y="2806700"/>
            <a:ext cx="25146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Apoiar a aprovação</a:t>
            </a:r>
            <a:endParaRPr lang="en-US" sz="1700" dirty="0"/>
          </a:p>
        </p:txBody>
      </p:sp>
      <p:sp>
        <p:nvSpPr>
          <p:cNvPr id="38" name="Text 34"/>
          <p:cNvSpPr/>
          <p:nvPr/>
        </p:nvSpPr>
        <p:spPr>
          <a:xfrm>
            <a:off x="6146800" y="3352800"/>
            <a:ext cx="25146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Comparação com referências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 justificativa.</a:t>
            </a:r>
            <a:endParaRPr lang="en-US" sz="1300" dirty="0"/>
          </a:p>
        </p:txBody>
      </p:sp>
      <p:sp>
        <p:nvSpPr>
          <p:cNvPr id="39" name="Text 35"/>
          <p:cNvSpPr/>
          <p:nvPr/>
        </p:nvSpPr>
        <p:spPr>
          <a:xfrm>
            <a:off x="6146800" y="4254500"/>
            <a:ext cx="2514600" cy="3683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devoluções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 trabalho manual ao processo centralizado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06400" y="1092200"/>
            <a:ext cx="4038600" cy="3517900"/>
          </a:xfrm>
          <a:prstGeom prst="roundRect">
            <a:avLst>
              <a:gd name="adj" fmla="val 2599"/>
            </a:avLst>
          </a:prstGeom>
          <a:solidFill>
            <a:srgbClr val="FFF4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699000" y="1092200"/>
            <a:ext cx="4038600" cy="3517900"/>
          </a:xfrm>
          <a:prstGeom prst="roundRect">
            <a:avLst>
              <a:gd name="adj" fmla="val 2599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5960" y="1376172"/>
            <a:ext cx="640080" cy="824992"/>
          </a:xfrm>
          <a:prstGeom prst="roundRect">
            <a:avLst>
              <a:gd name="adj" fmla="val 14286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60400" y="1333500"/>
            <a:ext cx="640080" cy="82499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5A41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52856" y="1440180"/>
            <a:ext cx="263144" cy="42672"/>
          </a:xfrm>
          <a:prstGeom prst="rect">
            <a:avLst>
              <a:gd name="adj" fmla="val 214286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52856" y="1589532"/>
            <a:ext cx="64008" cy="64008"/>
          </a:xfrm>
          <a:prstGeom prst="roundRect">
            <a:avLst>
              <a:gd name="adj" fmla="val 14285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73760" y="1603756"/>
            <a:ext cx="227584" cy="28448"/>
          </a:xfrm>
          <a:prstGeom prst="rect">
            <a:avLst>
              <a:gd name="adj" fmla="val 32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52856" y="1745996"/>
            <a:ext cx="64008" cy="64008"/>
          </a:xfrm>
          <a:prstGeom prst="roundRect">
            <a:avLst>
              <a:gd name="adj" fmla="val 14285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73760" y="1760220"/>
            <a:ext cx="106680" cy="28448"/>
          </a:xfrm>
          <a:prstGeom prst="rect">
            <a:avLst>
              <a:gd name="adj" fmla="val 32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52856" y="1902460"/>
            <a:ext cx="64008" cy="64008"/>
          </a:xfrm>
          <a:prstGeom prst="roundRect">
            <a:avLst>
              <a:gd name="adj" fmla="val 142857"/>
            </a:avLst>
          </a:prstGeom>
          <a:solidFill>
            <a:srgbClr val="E5A4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73760" y="1916684"/>
            <a:ext cx="291592" cy="28448"/>
          </a:xfrm>
          <a:prstGeom prst="rect">
            <a:avLst>
              <a:gd name="adj" fmla="val 32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940300" y="13208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041900" y="13843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40300" y="16002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041900" y="16637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940300" y="18796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41900" y="19431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524000" y="1460500"/>
            <a:ext cx="2705100" cy="406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Hoje na empresa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057900" y="1460500"/>
            <a:ext cx="2463800" cy="4064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 a solução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571500" y="2374900"/>
            <a:ext cx="3695700" cy="2082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Slides / PowerPoint + planilha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 validadores ou base conectada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Cópia, redigitação e conferência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Risco em fórmulas, itens e unidades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Versões e histórico dispersos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864100" y="2374900"/>
            <a:ext cx="3695700" cy="2082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 e EAP conectados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Campos e validações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Itens reaproveitados na equalização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Cadastros e histórico centralizados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Informação para analisar e aprovar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444500" y="4724400"/>
            <a:ext cx="8255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Centralizar para reduzir retrabalho e facilitar a conferência.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mesma EAP, do escopo à equalização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222375" y="1667510"/>
            <a:ext cx="1200150" cy="1546860"/>
          </a:xfrm>
          <a:prstGeom prst="roundRect">
            <a:avLst>
              <a:gd name="adj" fmla="val 7619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55700" y="1587500"/>
            <a:ext cx="1200150" cy="15468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29055" y="1787525"/>
            <a:ext cx="493395" cy="80010"/>
          </a:xfrm>
          <a:prstGeom prst="rect">
            <a:avLst>
              <a:gd name="adj" fmla="val 114286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329055" y="206756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555750" y="209423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29055" y="236093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555750" y="238760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329055" y="265430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555750" y="268097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1500" y="10668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2908300" y="2184400"/>
            <a:ext cx="6096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054475" y="1667510"/>
            <a:ext cx="1200150" cy="1546860"/>
          </a:xfrm>
          <a:prstGeom prst="roundRect">
            <a:avLst>
              <a:gd name="adj" fmla="val 7619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987800" y="1587500"/>
            <a:ext cx="1200150" cy="15468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161155" y="1787525"/>
            <a:ext cx="493395" cy="80010"/>
          </a:xfrm>
          <a:prstGeom prst="rect">
            <a:avLst>
              <a:gd name="adj" fmla="val 114286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161155" y="206756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387850" y="209423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161155" y="236093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387850" y="238760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161155" y="265430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387850" y="268097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14545" y="2760980"/>
            <a:ext cx="533400" cy="2667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5" b="1" dirty="0">
                <a:solidFill>
                  <a:srgbClr val="065CA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</a:t>
            </a:r>
            <a:endParaRPr lang="en-US" sz="1365" dirty="0"/>
          </a:p>
        </p:txBody>
      </p:sp>
      <p:sp>
        <p:nvSpPr>
          <p:cNvPr id="29" name="Text 25"/>
          <p:cNvSpPr/>
          <p:nvPr/>
        </p:nvSpPr>
        <p:spPr>
          <a:xfrm>
            <a:off x="3403600" y="10668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Fornecedor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740400" y="2184400"/>
            <a:ext cx="6096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886575" y="1667510"/>
            <a:ext cx="1200150" cy="1546860"/>
          </a:xfrm>
          <a:prstGeom prst="roundRect">
            <a:avLst>
              <a:gd name="adj" fmla="val 7619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819900" y="1587500"/>
            <a:ext cx="1200150" cy="15468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993255" y="1787525"/>
            <a:ext cx="493395" cy="80010"/>
          </a:xfrm>
          <a:prstGeom prst="rect">
            <a:avLst>
              <a:gd name="adj" fmla="val 114286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93255" y="206756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219950" y="209423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993255" y="236093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219950" y="238760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993255" y="2654300"/>
            <a:ext cx="120015" cy="120015"/>
          </a:xfrm>
          <a:prstGeom prst="roundRect">
            <a:avLst>
              <a:gd name="adj" fmla="val 7619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219950" y="2680970"/>
            <a:ext cx="560070" cy="53340"/>
          </a:xfrm>
          <a:prstGeom prst="rect">
            <a:avLst>
              <a:gd name="adj" fmla="val 171429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7446645" y="2760980"/>
            <a:ext cx="533400" cy="2667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5" b="1" dirty="0">
                <a:solidFill>
                  <a:srgbClr val="065CA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</a:t>
            </a:r>
            <a:endParaRPr lang="en-US" sz="1365" dirty="0"/>
          </a:p>
        </p:txBody>
      </p:sp>
      <p:sp>
        <p:nvSpPr>
          <p:cNvPr id="41" name="Text 37"/>
          <p:cNvSpPr/>
          <p:nvPr/>
        </p:nvSpPr>
        <p:spPr>
          <a:xfrm>
            <a:off x="6235700" y="10668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Equalização</a:t>
            </a:r>
            <a:endParaRPr lang="en-US" sz="1900" dirty="0"/>
          </a:p>
        </p:txBody>
      </p:sp>
      <p:sp>
        <p:nvSpPr>
          <p:cNvPr id="42" name="Text 38"/>
          <p:cNvSpPr/>
          <p:nvPr/>
        </p:nvSpPr>
        <p:spPr>
          <a:xfrm>
            <a:off x="482600" y="3390900"/>
            <a:ext cx="25146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Itens, unidades e marcas</a:t>
            </a:r>
            <a:endParaRPr lang="en-US" sz="1300" dirty="0"/>
          </a:p>
        </p:txBody>
      </p:sp>
      <p:sp>
        <p:nvSpPr>
          <p:cNvPr id="43" name="Text 39"/>
          <p:cNvSpPr/>
          <p:nvPr/>
        </p:nvSpPr>
        <p:spPr>
          <a:xfrm>
            <a:off x="3314700" y="3390900"/>
            <a:ext cx="25146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Excel com preços em branco</a:t>
            </a:r>
            <a:endParaRPr lang="en-US" sz="1300" dirty="0"/>
          </a:p>
        </p:txBody>
      </p:sp>
      <p:sp>
        <p:nvSpPr>
          <p:cNvPr id="44" name="Text 40"/>
          <p:cNvSpPr/>
          <p:nvPr/>
        </p:nvSpPr>
        <p:spPr>
          <a:xfrm>
            <a:off x="6146800" y="3390900"/>
            <a:ext cx="25146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Mesma revisão + preços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660400" y="4140200"/>
            <a:ext cx="7823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lista nasce uma vez e acompanha a cotação.</a:t>
            </a:r>
            <a:endParaRPr lang="en-US" sz="2200" dirty="0"/>
          </a:p>
        </p:txBody>
      </p:sp>
      <p:sp>
        <p:nvSpPr>
          <p:cNvPr id="46" name="Text 42"/>
          <p:cNvSpPr/>
          <p:nvPr/>
        </p:nvSpPr>
        <p:spPr>
          <a:xfrm>
            <a:off x="533400" y="4673600"/>
            <a:ext cx="80772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Excel enviado externamente; a equipe informa ou cola os preços.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 contexto para analisar e aprovar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326890" y="2209800"/>
            <a:ext cx="419100" cy="419100"/>
          </a:xfrm>
          <a:prstGeom prst="ellipse">
            <a:avLst>
              <a:gd name="adj" fmla="val 21818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089400" y="2726690"/>
            <a:ext cx="894080" cy="726440"/>
          </a:xfrm>
          <a:prstGeom prst="roundRect">
            <a:avLst>
              <a:gd name="adj" fmla="val 1258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29100" y="3229610"/>
            <a:ext cx="237490" cy="488950"/>
          </a:xfrm>
          <a:prstGeom prst="rect">
            <a:avLst>
              <a:gd name="adj" fmla="val 3850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06290" y="3229610"/>
            <a:ext cx="237490" cy="488950"/>
          </a:xfrm>
          <a:prstGeom prst="rect">
            <a:avLst>
              <a:gd name="adj" fmla="val 3850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323975" y="12179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82700" y="11684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90015" y="1292225"/>
            <a:ext cx="305435" cy="49530"/>
          </a:xfrm>
          <a:prstGeom prst="rect">
            <a:avLst>
              <a:gd name="adj" fmla="val 18461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390015" y="14655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530350" y="14820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390015" y="16471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530350" y="16637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390015" y="18288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530350" y="18453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19100" y="21971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EAP e marcas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743700" y="1701800"/>
            <a:ext cx="241300" cy="381000"/>
          </a:xfrm>
          <a:prstGeom prst="roundRect">
            <a:avLst>
              <a:gd name="adj" fmla="val 3789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086600" y="1473200"/>
            <a:ext cx="241300" cy="609600"/>
          </a:xfrm>
          <a:prstGeom prst="roundRect">
            <a:avLst>
              <a:gd name="adj" fmla="val 3789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429500" y="1257300"/>
            <a:ext cx="241300" cy="825500"/>
          </a:xfrm>
          <a:prstGeom prst="roundRect">
            <a:avLst>
              <a:gd name="adj" fmla="val 3789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032500" y="21971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Preços anteriores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1130300" y="3073400"/>
            <a:ext cx="990600" cy="990600"/>
          </a:xfrm>
          <a:prstGeom prst="ellipse">
            <a:avLst>
              <a:gd name="adj" fmla="val 923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181100" y="3276600"/>
            <a:ext cx="889000" cy="609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419100" y="41021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Indicadores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6937375" y="31229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896100" y="30734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003415" y="3197225"/>
            <a:ext cx="305435" cy="49530"/>
          </a:xfrm>
          <a:prstGeom prst="rect">
            <a:avLst>
              <a:gd name="adj" fmla="val 18461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003415" y="33705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143750" y="33870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003415" y="35521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143750" y="35687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003415" y="37338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143750" y="37503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032500" y="41021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Parecer e negociação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3263900" y="1536700"/>
            <a:ext cx="26670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Quem aprova</a:t>
            </a:r>
            <a:endParaRPr lang="en-US" sz="2200" dirty="0"/>
          </a:p>
        </p:txBody>
      </p:sp>
      <p:sp>
        <p:nvSpPr>
          <p:cNvPr id="40" name="Text 36"/>
          <p:cNvSpPr/>
          <p:nvPr/>
        </p:nvSpPr>
        <p:spPr>
          <a:xfrm>
            <a:off x="2933700" y="3835400"/>
            <a:ext cx="33020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que inclui?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 que esta proposta?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508000" y="4711700"/>
            <a:ext cx="8128000" cy="3429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Mais contexto para decidir e menos dúvidas evitáveis na aprovação.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histórico para a próxima contratação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225800" y="1638300"/>
            <a:ext cx="2692400" cy="2171700"/>
          </a:xfrm>
          <a:prstGeom prst="roundRect">
            <a:avLst>
              <a:gd name="adj" fmla="val 421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064000" y="20066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165600" y="20701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064000" y="22860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5600" y="23495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064000" y="2565400"/>
            <a:ext cx="1016000" cy="215900"/>
          </a:xfrm>
          <a:prstGeom prst="roundRect">
            <a:avLst>
              <a:gd name="adj" fmla="val 42353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165600" y="2628900"/>
            <a:ext cx="76200" cy="76200"/>
          </a:xfrm>
          <a:prstGeom prst="ellipse">
            <a:avLst>
              <a:gd name="adj" fmla="val 1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390900" y="3162300"/>
            <a:ext cx="23749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Histórico comum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254125" y="12865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219200" y="12446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310005" y="13493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310005" y="14960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428750" y="15100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310005" y="16497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428750" y="16637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10005" y="18034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428750" y="18173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96900" y="21717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Escopos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842125" y="12865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07200" y="12446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98005" y="13493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898005" y="14960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016750" y="15100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898005" y="16497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016750" y="16637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98005" y="18034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016750" y="18173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184900" y="21717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Equalizações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1254125" y="31153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219200" y="30734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310005" y="31781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310005" y="33248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1428750" y="33388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310005" y="34785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428750" y="34925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10005" y="36322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428750" y="36461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96900" y="40005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Preços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524625" y="311531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489700" y="3073400"/>
            <a:ext cx="628650" cy="8102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065CA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580505" y="3178175"/>
            <a:ext cx="258445" cy="41910"/>
          </a:xfrm>
          <a:prstGeom prst="rect">
            <a:avLst>
              <a:gd name="adj" fmla="val 21818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580505" y="332486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699250" y="333883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580505" y="347853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699250" y="349250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6580505" y="3632200"/>
            <a:ext cx="62865" cy="62865"/>
          </a:xfrm>
          <a:prstGeom prst="roundRect">
            <a:avLst>
              <a:gd name="adj" fmla="val 145455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699250" y="3646170"/>
            <a:ext cx="293370" cy="27940"/>
          </a:xfrm>
          <a:prstGeom prst="rect">
            <a:avLst>
              <a:gd name="adj" fmla="val 32727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867400" y="4000500"/>
            <a:ext cx="2438400" cy="3175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Fornecedores / CNPJ</a:t>
            </a:r>
            <a:endParaRPr lang="en-US" sz="1400" dirty="0"/>
          </a:p>
        </p:txBody>
      </p:sp>
      <p:sp>
        <p:nvSpPr>
          <p:cNvPr id="56" name="Text 52"/>
          <p:cNvSpPr/>
          <p:nvPr/>
        </p:nvSpPr>
        <p:spPr>
          <a:xfrm>
            <a:off x="558800" y="4546600"/>
            <a:ext cx="8026400" cy="508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Localizar a revisão, consultar referências e reaproveitar o trabalho.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dependência de arquivos espalhados.</a:t>
            </a:r>
            <a:endParaRPr lang="en-US" sz="1300" dirty="0"/>
          </a:p>
        </p:txBody>
      </p:sp>
      <p:sp>
        <p:nvSpPr>
          <p:cNvPr id="57" name="Text 53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06400" y="139700"/>
            <a:ext cx="63500" cy="431800"/>
          </a:xfrm>
          <a:prstGeom prst="rect">
            <a:avLst>
              <a:gd name="adj" fmla="val 144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6900" y="101600"/>
            <a:ext cx="65151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16213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benefício está no esforço total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7800"/>
            <a:ext cx="1422400" cy="406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762000"/>
            <a:ext cx="9144000" cy="12700"/>
          </a:xfrm>
          <a:prstGeom prst="rect">
            <a:avLst>
              <a:gd name="adj" fmla="val 720000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06400" y="762000"/>
            <a:ext cx="1397000" cy="38100"/>
          </a:xfrm>
          <a:prstGeom prst="rect">
            <a:avLst>
              <a:gd name="adj" fmla="val 240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76300" y="1333500"/>
            <a:ext cx="1714500" cy="1714500"/>
          </a:xfrm>
          <a:prstGeom prst="ellipse">
            <a:avLst>
              <a:gd name="adj" fmla="val 533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257300" y="1739900"/>
            <a:ext cx="889000" cy="889000"/>
          </a:xfrm>
          <a:prstGeom prst="ellipse">
            <a:avLst>
              <a:gd name="adj" fmla="val 10286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676400" y="1917700"/>
            <a:ext cx="50800" cy="292100"/>
          </a:xfrm>
          <a:prstGeom prst="rect">
            <a:avLst>
              <a:gd name="adj" fmla="val 180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676400" y="2171700"/>
            <a:ext cx="279400" cy="50800"/>
          </a:xfrm>
          <a:prstGeom prst="rect">
            <a:avLst>
              <a:gd name="adj" fmla="val 180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9900" y="32385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tempo gasto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9900" y="3759200"/>
            <a:ext cx="25400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espera e reconstrução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 informação.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708400" y="1333500"/>
            <a:ext cx="1714500" cy="1714500"/>
          </a:xfrm>
          <a:prstGeom prst="ellipse">
            <a:avLst>
              <a:gd name="adj" fmla="val 533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244975" y="175133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E4EA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03700" y="1701800"/>
            <a:ext cx="742950" cy="95758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03D7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311015" y="1825625"/>
            <a:ext cx="305435" cy="49530"/>
          </a:xfrm>
          <a:prstGeom prst="rect">
            <a:avLst>
              <a:gd name="adj" fmla="val 184615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11015" y="199898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51350" y="201549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311015" y="218059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51350" y="219710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311015" y="2362200"/>
            <a:ext cx="74295" cy="74295"/>
          </a:xfrm>
          <a:prstGeom prst="roundRect">
            <a:avLst>
              <a:gd name="adj" fmla="val 123077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51350" y="2378710"/>
            <a:ext cx="346710" cy="33020"/>
          </a:xfrm>
          <a:prstGeom prst="rect">
            <a:avLst>
              <a:gd name="adj" fmla="val 276923"/>
            </a:avLst>
          </a:prstGeom>
          <a:solidFill>
            <a:srgbClr val="CBD5E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302000" y="32385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retrabalho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3302000" y="3759200"/>
            <a:ext cx="25400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Menos revisões e retornos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 aprovação.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540500" y="1333500"/>
            <a:ext cx="1714500" cy="1714500"/>
          </a:xfrm>
          <a:prstGeom prst="ellipse">
            <a:avLst>
              <a:gd name="adj" fmla="val 5333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185025" y="17018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023100" y="20542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118350" y="2397125"/>
            <a:ext cx="161925" cy="333375"/>
          </a:xfrm>
          <a:prstGeom prst="rect">
            <a:avLst>
              <a:gd name="adj" fmla="val 5647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375525" y="2397125"/>
            <a:ext cx="161925" cy="333375"/>
          </a:xfrm>
          <a:prstGeom prst="rect">
            <a:avLst>
              <a:gd name="adj" fmla="val 56471"/>
            </a:avLst>
          </a:prstGeom>
          <a:solidFill>
            <a:srgbClr val="003D7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134100" y="32385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3D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Mais análise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6134100" y="3759200"/>
            <a:ext cx="25400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Mais atenção às diferenças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 à negociação.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571500" y="4635500"/>
            <a:ext cx="8001000" cy="419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651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Benefícios esperados: medir tempo, revisões e devoluções em casos comparáveis.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8458200" y="4953000"/>
            <a:ext cx="444500" cy="1651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8592A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E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06400" y="355600"/>
            <a:ext cx="8128000" cy="3302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PRODUTIVIDADE NO PROCESSO DE CONTRATAÇÃO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44500" y="1041400"/>
            <a:ext cx="8255000" cy="1193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Começar melhor.</a:t>
            </a:r>
            <a:endParaRPr lang="en-US" sz="3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Contratar melhor.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1431925" y="26162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70000" y="29686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65250" y="3311525"/>
            <a:ext cx="161925" cy="333375"/>
          </a:xfrm>
          <a:prstGeom prst="rect">
            <a:avLst>
              <a:gd name="adj" fmla="val 5647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22425" y="3311525"/>
            <a:ext cx="161925" cy="333375"/>
          </a:xfrm>
          <a:prstGeom prst="rect">
            <a:avLst>
              <a:gd name="adj" fmla="val 5647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4200" y="3759200"/>
            <a:ext cx="21082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Preparar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476500" y="3098800"/>
            <a:ext cx="6858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16425" y="26162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4500" y="29686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9750" y="3311525"/>
            <a:ext cx="161925" cy="333375"/>
          </a:xfrm>
          <a:prstGeom prst="rect">
            <a:avLst>
              <a:gd name="adj" fmla="val 5647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06925" y="3311525"/>
            <a:ext cx="161925" cy="333375"/>
          </a:xfrm>
          <a:prstGeom prst="rect">
            <a:avLst>
              <a:gd name="adj" fmla="val 56471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68700" y="3759200"/>
            <a:ext cx="21082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Cotar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61000" y="3098800"/>
            <a:ext cx="685800" cy="203200"/>
          </a:xfrm>
          <a:prstGeom prst="rightArrow">
            <a:avLst>
              <a:gd name="adj" fmla="val 45000"/>
            </a:avLst>
          </a:prstGeom>
          <a:solidFill>
            <a:srgbClr val="065CA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00925" y="2616200"/>
            <a:ext cx="285750" cy="285750"/>
          </a:xfrm>
          <a:prstGeom prst="ellipse">
            <a:avLst>
              <a:gd name="adj" fmla="val 32000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39000" y="2968625"/>
            <a:ext cx="609600" cy="495300"/>
          </a:xfrm>
          <a:prstGeom prst="roundRect">
            <a:avLst>
              <a:gd name="adj" fmla="val 18462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34250" y="3311525"/>
            <a:ext cx="161925" cy="333375"/>
          </a:xfrm>
          <a:prstGeom prst="rect">
            <a:avLst>
              <a:gd name="adj" fmla="val 5647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91425" y="3311525"/>
            <a:ext cx="161925" cy="333375"/>
          </a:xfrm>
          <a:prstGeom prst="rect">
            <a:avLst>
              <a:gd name="adj" fmla="val 56471"/>
            </a:avLst>
          </a:prstGeom>
          <a:solidFill>
            <a:srgbClr val="E9F0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53200" y="3759200"/>
            <a:ext cx="2108200" cy="3556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Aprovar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08000" y="4381500"/>
            <a:ext cx="8128000" cy="558800"/>
          </a:xfrm>
          <a:prstGeom prst="rect">
            <a:avLst/>
          </a:prstGeom>
          <a:noFill/>
          <a:ln/>
        </p:spPr>
        <p:txBody>
          <a:bodyPr wrap="square" lIns="0" tIns="88900" rIns="8890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9F0F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Clareza no pedido, consistência na comparação e contexto na decisão.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11</Slides>
	<Notes>11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11</vt:i4></vt:variant>
		</vt:vector>
	</HeadingPairs>
	<TitlesOfParts>
		<vt:vector size="14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
		</vt:vector>
	</TitlesOfParts>
	<Company>Capital Realty & Demercado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Gestão de Contratações</dc:title>
  <dc:subject>Produtividade no processo de contratação</dc:subject>
  <dc:creator>Guilherme Marques</dc:creator>
  <cp:lastModifiedBy>Guilherme Marques</cp:lastModifiedBy>
  <cp:revision>1</cp:revision>
  <dcterms:created xsi:type="dcterms:W3CDTF">2026-09-11T00:54:23Z</dcterms:created>
  <dcterms:modified xsi:type="dcterms:W3CDTF">2026-09-11T00:54:23Z</dcterms:modified>
</cp:coreProperties>
</file>