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que queremos resolver é a produtividade no processo de contratação. Parte do tempo gasto na equalização é usada para descobrir o que cada fornecedor considerou. A proposta é organizar esse trabalho desde o escopo: definir o que precisamos, pedir a mesma estrutura de resposta e levar esses itens para a comparação. Gestão de Contratações é o novo nome porque o projeto acompanha esse ciclo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uma proposta de vinte mil reais sem detalhamento. Ela inclui materiais? Instalação? Testes? Limpeza? Outro fornecedor pode ter considerado tudo isso. Comparar apenas o total mistura propostas diferentes. Antes de negociar, a equipe precisa abrir as composições e pedir revisões. É nesse trabalho de esclarecimento e conferência que o processo perde tempo. O valor é um exemplo, não uma compra ou economia apurada.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Nos três Megas, algumas pessoas usam mais fotos e menos texto; outras fazem o contrário. O objetivo não é impor a mesma quantidade de fotos ou apagar as diferenças locais. É garantir que todos respondam às mesmas perguntas: onde, o quê, quanto, com qual referência e em quais condições. A experiência da Engenharia é uma referência interna para apoiar Facilities e Propriedades, que precisam de um método mais guiado.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melhora começa antes de recebermos qualquer preço. Montamos o escopo por local e serviço, anexamos as fotos ao grupo e estruturamos os itens na EAP. As condições completam a solicitação ou edital de cotação. A ferramenta ajuda a lembrar e organizar os campos, mas não substitui a revisão técnica. Um formulário preenchido não garante, sozinho, que o escopo esteja correto.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ciclo não começa na equalização. Começa no escopo. Da EAP sai uma planilha Excel com os itens preenchidos e os campos de preço em branco. Enviamos esse arquivo aos fornecedores, que o devolvem preenchido. Na nova cotação, escolhemos a mesma revisão do escopo e carregamos os itens. A equipe informa ou cola os preços. Depois vêm a análise, a negociação e a decisão. Após a entrega, a avaliação alimenta as próximas contratações. O envio e a leitura automática das respostas ainda não fazem parte desse fluxo.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equalização nasce estruturada junto com o escopo. Assim, não precisamos reconstruir a lista inteira depois de receber propostas em formatos diferentes. A mesma revisão enviada ao fornecedor alimenta a EAP da compra. Ainda é necessário conferir a resposta: um fornecedor pode omitir um item ou propor outra marca. A vantagem é termos uma referência clara para identificar e resolver essas diferenças.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recursos são um ganho adicional à melhora do processo. A numeração automática evita manutenção manual da EAP. O histórico ajuda o comprador a questionar um preço. O IQF acrescenta informação sobre a entrega, com indicação de amostra preliminar. O avaliador recebe um comparativo mais organizado, com condições e justificativa. O sistema não negocia pelo comprador e o menor preço não substitui a avaliação do escopo.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repositório guarda a memória do trabalho. O próximo responsável pode consultar um escopo anterior, uma equalização e os preços registrados. A base de fornecedores usa o CNPJ como referência e consulta dados cadastrais públicos. A consulta externa é feita pela BrasilAPI, que republica dados públicos; não é uma integração direta com a Receita Federal. O cadastro interno vem primeiro e uma indisponibilidade não impede continuar manualmente.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 já temos o escopo com fotos, a EAP, a planilha em branco para o fornecedor e a carga desses itens na equalização. Também temos o histórico de preços, o cadastro por CNPJ, a avaliação e os documentos de apoio à decisão. O envio de convites, o portal e a importação automática das respostas são próximos passos. Precisamos consolidar o uso e medir o resultado antes de ampliar o processo.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indicador não pode olhar apenas os minutos gastos para montar a tabela. Se dedicarmos mais tempo a elaborar um escopo e reduzirmos revisões, esclarecimentos e correções, o ganho pode estar no processo completo. Precisamos acompanhar o tempo por etapa, o número de devoluções e a duração até a decisão. A comparação deve considerar compras semelhantes e separar tempo ativo de trabalho de tempo de espera. Não vou afirmar um percentual de redução sem essa comparação.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proposta é melhorar as atividades das pessoas em cada momento da contratação. Quem prepara dá clareza ao pedido. Quem compra concentra energia na conferência e na negociação. Quem decide recebe um comparativo mais compreensível. A hipótese é simples: um escopo bem elaborado reduz o ruído que se espalharia pelas etapas seguintes. O próximo passo é usar esse padrão nas contratações reais e medir o resultado com as equipes.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E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08000" y="546100"/>
            <a:ext cx="8153400" cy="3175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E9F0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Produtividade no processo de contratação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8000" y="1320800"/>
            <a:ext cx="8128000" cy="12700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Gestão de Contratações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08000" y="2832100"/>
            <a:ext cx="7493000" cy="914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melhor o escopo para reduzir revisões e facilitar a contratação.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08000" y="4318000"/>
            <a:ext cx="8153400" cy="279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E9F0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Guilherme Marques · Suprimentos / Facilities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8000" y="4673600"/>
            <a:ext cx="8153400" cy="2286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E9F0F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Concurso da Melhor Ideia 2026 · Capital Realty &amp; Demercado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6400" y="139700"/>
            <a:ext cx="63500" cy="431800"/>
          </a:xfrm>
          <a:prstGeom prst="rect">
            <a:avLst>
              <a:gd name="adj" fmla="val 144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6900" y="101600"/>
            <a:ext cx="65151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1621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retrabalho começa antes da equalização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96900" y="469900"/>
            <a:ext cx="1104290" cy="190500"/>
          </a:xfrm>
          <a:prstGeom prst="roundRect">
            <a:avLst>
              <a:gd name="adj" fmla="val 48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9900" y="469900"/>
            <a:ext cx="1358290" cy="1905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50" b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DOR DO PROCESSO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7800"/>
            <a:ext cx="1422400" cy="406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762000"/>
            <a:ext cx="9144000" cy="12700"/>
          </a:xfrm>
          <a:prstGeom prst="rect">
            <a:avLst>
              <a:gd name="adj" fmla="val 720000"/>
            </a:avLst>
          </a:prstGeom>
          <a:solidFill>
            <a:srgbClr val="E4EA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06400" y="762000"/>
            <a:ext cx="1397000" cy="381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6400" y="965200"/>
            <a:ext cx="8331200" cy="6223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o escopo é ambíguo, cada fornecedor responde a uma pergunta diferente.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06400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6400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1500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Propostas diferentes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71500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fornecedor detalha os serviços. Outro apresenta um preço global. Um terceiro deixa itens de fora.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34267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34267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99367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Comparação difícil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3399367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 proposta de R$ 20 mil pode parecer atrativa, mas o valor sozinho não revela o que está incluído.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62133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62133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27233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Mais idas e vindas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6227233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equipe precisa esclarecer inclusões, pedir revisões e reorganizar os dados antes de comparar os preços.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06400" y="4546600"/>
            <a:ext cx="8331200" cy="304800"/>
          </a:xfrm>
          <a:prstGeom prst="roundRect">
            <a:avLst>
              <a:gd name="adj" fmla="val 30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2600" y="4610100"/>
            <a:ext cx="38100" cy="1778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35000" y="4546600"/>
            <a:ext cx="8026400" cy="304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i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Exemplo ilustrativo: preço comparável exige escopo, quantidade e condições equivalentes.</a:t>
            </a:r>
            <a:endParaRPr lang="en-US" sz="860" dirty="0"/>
          </a:p>
        </p:txBody>
      </p:sp>
      <p:sp>
        <p:nvSpPr>
          <p:cNvPr id="26" name="Text 22"/>
          <p:cNvSpPr/>
          <p:nvPr/>
        </p:nvSpPr>
        <p:spPr>
          <a:xfrm>
            <a:off x="8432800" y="4902200"/>
            <a:ext cx="304800" cy="177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8592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6400" y="139700"/>
            <a:ext cx="63500" cy="431800"/>
          </a:xfrm>
          <a:prstGeom prst="rect">
            <a:avLst>
              <a:gd name="adj" fmla="val 144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6900" y="101600"/>
            <a:ext cx="65151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1621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mesma base para os três Megas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96900" y="469900"/>
            <a:ext cx="1516380" cy="190500"/>
          </a:xfrm>
          <a:prstGeom prst="roundRect">
            <a:avLst>
              <a:gd name="adj" fmla="val 48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9900" y="469900"/>
            <a:ext cx="1770380" cy="1905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50" b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FACILITIES E PROPRIEDADES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7800"/>
            <a:ext cx="1422400" cy="406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762000"/>
            <a:ext cx="9144000" cy="12700"/>
          </a:xfrm>
          <a:prstGeom prst="rect">
            <a:avLst>
              <a:gd name="adj" fmla="val 720000"/>
            </a:avLst>
          </a:prstGeom>
          <a:solidFill>
            <a:srgbClr val="E4EA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06400" y="762000"/>
            <a:ext cx="1397000" cy="381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6400" y="965200"/>
            <a:ext cx="8331200" cy="6223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 características locais mudam. As informações necessárias para cotar precisam seguir um padrão.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06400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6400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1500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Realidades diferentes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71500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Curitiba, Esteio e Itajaí têm necessidades próprias. Hoje, os escopos variam na quantidade de texto, fotos e detalhamento.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34267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34267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99367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Referência interna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3399367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Engenharia já tem experiência na elaboração de escopos e equalizações. Essa prática pode orientar um método comum.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62133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62133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27233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Apoio às equipes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227233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Facilities e Propriedades ganham uma sequência de preparação e conferência para estruturar a contratação.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06400" y="4546600"/>
            <a:ext cx="8331200" cy="304800"/>
          </a:xfrm>
          <a:prstGeom prst="roundRect">
            <a:avLst>
              <a:gd name="adj" fmla="val 30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2600" y="4610100"/>
            <a:ext cx="38100" cy="1778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35000" y="4546600"/>
            <a:ext cx="8026400" cy="304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i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Padrão comum de informação, com espaço para a necessidade específica de cada empreendimento.</a:t>
            </a:r>
            <a:endParaRPr lang="en-US" sz="860" dirty="0"/>
          </a:p>
        </p:txBody>
      </p:sp>
      <p:sp>
        <p:nvSpPr>
          <p:cNvPr id="26" name="Text 22"/>
          <p:cNvSpPr/>
          <p:nvPr/>
        </p:nvSpPr>
        <p:spPr>
          <a:xfrm>
            <a:off x="8432800" y="4902200"/>
            <a:ext cx="304800" cy="177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8592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6400" y="139700"/>
            <a:ext cx="63500" cy="431800"/>
          </a:xfrm>
          <a:prstGeom prst="rect">
            <a:avLst>
              <a:gd name="adj" fmla="val 144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6900" y="101600"/>
            <a:ext cx="65151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1621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escopo nasce com uma estrutura comum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96900" y="469900"/>
            <a:ext cx="898246" cy="190500"/>
          </a:xfrm>
          <a:prstGeom prst="roundRect">
            <a:avLst>
              <a:gd name="adj" fmla="val 48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9900" y="469900"/>
            <a:ext cx="1152246" cy="1905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50" b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FUNCIONA HOJE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7800"/>
            <a:ext cx="1422400" cy="406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762000"/>
            <a:ext cx="9144000" cy="12700"/>
          </a:xfrm>
          <a:prstGeom prst="rect">
            <a:avLst>
              <a:gd name="adj" fmla="val 720000"/>
            </a:avLst>
          </a:prstGeom>
          <a:solidFill>
            <a:srgbClr val="E4EA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06400" y="762000"/>
            <a:ext cx="1397000" cy="381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6400" y="965200"/>
            <a:ext cx="8331200" cy="6223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Preparar melhor a solicitação de cotação torna explícito o que o fornecedor deve considerar.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06400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6400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1500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 e evidência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71500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Local, objetivo, vistoria e fotos junto aos grupos de serviços. O fornecedor entende o problema e onde vai atuar.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34267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34267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99367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Itens bem definidos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3399367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EAP com grupos, descrição, quantidade, unidade e marca de referência. A numeração é automática.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62133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62133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27233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Condições claras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227233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Prazos, visita técnica, materiais, documentação, responsabilidades e demais requisitos registrados no escopo.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06400" y="4546600"/>
            <a:ext cx="8331200" cy="304800"/>
          </a:xfrm>
          <a:prstGeom prst="roundRect">
            <a:avLst>
              <a:gd name="adj" fmla="val 30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2600" y="4610100"/>
            <a:ext cx="38100" cy="1778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35000" y="4546600"/>
            <a:ext cx="8026400" cy="304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i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ferramenta organiza o preenchimento; a qualidade técnica depende da revisão do responsável.</a:t>
            </a:r>
            <a:endParaRPr lang="en-US" sz="860" dirty="0"/>
          </a:p>
        </p:txBody>
      </p:sp>
      <p:sp>
        <p:nvSpPr>
          <p:cNvPr id="26" name="Text 22"/>
          <p:cNvSpPr/>
          <p:nvPr/>
        </p:nvSpPr>
        <p:spPr>
          <a:xfrm>
            <a:off x="8432800" y="4902200"/>
            <a:ext cx="304800" cy="177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8592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6400" y="139700"/>
            <a:ext cx="63500" cy="431800"/>
          </a:xfrm>
          <a:prstGeom prst="rect">
            <a:avLst>
              <a:gd name="adj" fmla="val 144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6900" y="101600"/>
            <a:ext cx="65151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1621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ciclo começa no escopo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96900" y="469900"/>
            <a:ext cx="795223" cy="190500"/>
          </a:xfrm>
          <a:prstGeom prst="roundRect">
            <a:avLst>
              <a:gd name="adj" fmla="val 48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9900" y="469900"/>
            <a:ext cx="1049223" cy="1905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50" b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FLUXO ATUAL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7800"/>
            <a:ext cx="1422400" cy="406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762000"/>
            <a:ext cx="9144000" cy="12700"/>
          </a:xfrm>
          <a:prstGeom prst="rect">
            <a:avLst>
              <a:gd name="adj" fmla="val 720000"/>
            </a:avLst>
          </a:prstGeom>
          <a:solidFill>
            <a:srgbClr val="E4EA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06400" y="762000"/>
            <a:ext cx="1397000" cy="381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6400" y="965200"/>
            <a:ext cx="8331200" cy="6223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estrutura preparada no início acompanha a cotação e a decisão.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06400" y="1676400"/>
            <a:ext cx="2675467" cy="1289050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6400" y="1778000"/>
            <a:ext cx="50800" cy="108585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1500" y="1803400"/>
            <a:ext cx="2345267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Escopo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71500" y="2133600"/>
            <a:ext cx="2345267" cy="67945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Definir serviços, fotos, itens e condições.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234267" y="1676400"/>
            <a:ext cx="2675467" cy="1289050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34267" y="1778000"/>
            <a:ext cx="50800" cy="108585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99367" y="1803400"/>
            <a:ext cx="2345267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Cotação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399367" y="2133600"/>
            <a:ext cx="2345267" cy="67945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Baixar o Excel e enviar aos fornecedores.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62133" y="1676400"/>
            <a:ext cx="2675467" cy="1289050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62133" y="1778000"/>
            <a:ext cx="50800" cy="108585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27233" y="1803400"/>
            <a:ext cx="2345267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Resposta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227233" y="2133600"/>
            <a:ext cx="2345267" cy="67945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Receber o Excel preenchido na estrutura solicitada.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06400" y="3117850"/>
            <a:ext cx="2675467" cy="1289050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06400" y="3219450"/>
            <a:ext cx="50800" cy="108585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71500" y="3244850"/>
            <a:ext cx="2345267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Equalização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71500" y="3575050"/>
            <a:ext cx="2345267" cy="67945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Carregar o escopo e informar os preços de cada proponente.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234267" y="3117850"/>
            <a:ext cx="2675467" cy="1289050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234267" y="3219450"/>
            <a:ext cx="50800" cy="108585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399367" y="3244850"/>
            <a:ext cx="2345267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Decisão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3399367" y="3575050"/>
            <a:ext cx="2345267" cy="67945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Analisar propostas, negociar e registrar a homologação.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062133" y="3117850"/>
            <a:ext cx="2675467" cy="1289050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062133" y="3219450"/>
            <a:ext cx="50800" cy="108585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227233" y="3244850"/>
            <a:ext cx="2345267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Memória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6227233" y="3575050"/>
            <a:ext cx="2345267" cy="67945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Avaliar a entrega e consultar o histórico na próxima compra.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06400" y="4546600"/>
            <a:ext cx="8331200" cy="304800"/>
          </a:xfrm>
          <a:prstGeom prst="roundRect">
            <a:avLst>
              <a:gd name="adj" fmla="val 30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482600" y="4610100"/>
            <a:ext cx="38100" cy="1778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35000" y="4546600"/>
            <a:ext cx="8026400" cy="304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i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Envio e retorno do Excel são externos ao sistema. Os preços são inseridos ou colados pela equipe.</a:t>
            </a:r>
            <a:endParaRPr lang="en-US" sz="860" dirty="0"/>
          </a:p>
        </p:txBody>
      </p:sp>
      <p:sp>
        <p:nvSpPr>
          <p:cNvPr id="38" name="Text 34"/>
          <p:cNvSpPr/>
          <p:nvPr/>
        </p:nvSpPr>
        <p:spPr>
          <a:xfrm>
            <a:off x="8432800" y="4902200"/>
            <a:ext cx="304800" cy="177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8592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6400" y="139700"/>
            <a:ext cx="63500" cy="431800"/>
          </a:xfrm>
          <a:prstGeom prst="rect">
            <a:avLst>
              <a:gd name="adj" fmla="val 144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6900" y="101600"/>
            <a:ext cx="65151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1621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equalização aproveita o trabalho já feito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96900" y="469900"/>
            <a:ext cx="898246" cy="190500"/>
          </a:xfrm>
          <a:prstGeom prst="roundRect">
            <a:avLst>
              <a:gd name="adj" fmla="val 48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9900" y="469900"/>
            <a:ext cx="1152246" cy="1905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50" b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FUNCIONA HOJE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7800"/>
            <a:ext cx="1422400" cy="406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762000"/>
            <a:ext cx="9144000" cy="12700"/>
          </a:xfrm>
          <a:prstGeom prst="rect">
            <a:avLst>
              <a:gd name="adj" fmla="val 720000"/>
            </a:avLst>
          </a:prstGeom>
          <a:solidFill>
            <a:srgbClr val="E4EA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06400" y="762000"/>
            <a:ext cx="1397000" cy="381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6400" y="965200"/>
            <a:ext cx="8331200" cy="6223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Os itens solicitados ao fornecedor são a base que o comprador carrega para comparar.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06400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6400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1500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da resposta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1500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Todos recebem os mesmos itens, quantidades, unidades e referências, com os preços a preencher.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34267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34267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99367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montagem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399367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comprador escolhe o escopo e a revisão enviada. A EAP entra pronta, com os campos de preço vazios.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62133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62133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27233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 conferência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227233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equipe verifica omissões, marcas e condições antes de comparar os valores e solicitar a aprovação.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06400" y="4546600"/>
            <a:ext cx="8331200" cy="304800"/>
          </a:xfrm>
          <a:prstGeom prst="roundRect">
            <a:avLst>
              <a:gd name="adj" fmla="val 30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2600" y="4610100"/>
            <a:ext cx="38100" cy="1778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35000" y="4546600"/>
            <a:ext cx="8026400" cy="304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i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Menos redigitação e uma base comum de comparação. A resposta do fornecedor ainda precisa ser conferida.</a:t>
            </a:r>
            <a:endParaRPr lang="en-US" sz="860" dirty="0"/>
          </a:p>
        </p:txBody>
      </p:sp>
      <p:sp>
        <p:nvSpPr>
          <p:cNvPr id="26" name="Text 22"/>
          <p:cNvSpPr/>
          <p:nvPr/>
        </p:nvSpPr>
        <p:spPr>
          <a:xfrm>
            <a:off x="8432800" y="4902200"/>
            <a:ext cx="304800" cy="177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8592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6400" y="139700"/>
            <a:ext cx="63500" cy="431800"/>
          </a:xfrm>
          <a:prstGeom prst="rect">
            <a:avLst>
              <a:gd name="adj" fmla="val 144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6900" y="101600"/>
            <a:ext cx="65151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1621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apoio adicional para quem avalia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96900" y="469900"/>
            <a:ext cx="1670914" cy="190500"/>
          </a:xfrm>
          <a:prstGeom prst="roundRect">
            <a:avLst>
              <a:gd name="adj" fmla="val 48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9900" y="469900"/>
            <a:ext cx="1924914" cy="1905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50" b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EQUALIZAÇÃO MAIS INTELIGENTE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7800"/>
            <a:ext cx="1422400" cy="406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762000"/>
            <a:ext cx="9144000" cy="12700"/>
          </a:xfrm>
          <a:prstGeom prst="rect">
            <a:avLst>
              <a:gd name="adj" fmla="val 720000"/>
            </a:avLst>
          </a:prstGeom>
          <a:solidFill>
            <a:srgbClr val="E4EA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06400" y="762000"/>
            <a:ext cx="1397000" cy="381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6400" y="965200"/>
            <a:ext cx="8331200" cy="6223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padronização organiza a entrada. Os recursos de análise ajudam na decisão.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06400" y="1676400"/>
            <a:ext cx="4089400" cy="1289050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6400" y="1778000"/>
            <a:ext cx="50800" cy="108585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1500" y="1803400"/>
            <a:ext cx="37592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EAP e marcas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71500" y="2133600"/>
            <a:ext cx="3759200" cy="67945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Numeração automática, quantidades visíveis e marca de referência junto aos itens.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48200" y="1676400"/>
            <a:ext cx="4089400" cy="1289050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48200" y="1778000"/>
            <a:ext cx="50800" cy="108585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13300" y="1803400"/>
            <a:ext cx="37592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Preços anteriores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13300" y="2133600"/>
            <a:ext cx="3759200" cy="67945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 e alertas históricos ajudam a identificar variações que merecem explicação.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06400" y="3117850"/>
            <a:ext cx="4089400" cy="1289050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06400" y="3219450"/>
            <a:ext cx="50800" cy="108585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1500" y="3244850"/>
            <a:ext cx="37592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Qualidade da entrega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71500" y="3575050"/>
            <a:ext cx="3759200" cy="67945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IQF traz avaliações do fornecedor para a próxima compra e sinaliza quando a amostra é preliminar.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648200" y="3117850"/>
            <a:ext cx="4089400" cy="1289050"/>
          </a:xfrm>
          <a:prstGeom prst="roundRect">
            <a:avLst>
              <a:gd name="adj" fmla="val 7094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648200" y="3219450"/>
            <a:ext cx="50800" cy="108585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813300" y="3244850"/>
            <a:ext cx="37592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da decisão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813300" y="3575050"/>
            <a:ext cx="3759200" cy="67945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Comparativo exportável, parecer, homologação e registro dos valores negociados.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06400" y="4546600"/>
            <a:ext cx="8331200" cy="304800"/>
          </a:xfrm>
          <a:prstGeom prst="roundRect">
            <a:avLst>
              <a:gd name="adj" fmla="val 30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82600" y="4610100"/>
            <a:ext cx="38100" cy="1778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5000" y="4546600"/>
            <a:ext cx="8026400" cy="304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i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negociação ocorre entre as pessoas. O sistema registra e organiza o resultado para análise.</a:t>
            </a:r>
            <a:endParaRPr lang="en-US" sz="860" dirty="0"/>
          </a:p>
        </p:txBody>
      </p:sp>
      <p:sp>
        <p:nvSpPr>
          <p:cNvPr id="30" name="Text 26"/>
          <p:cNvSpPr/>
          <p:nvPr/>
        </p:nvSpPr>
        <p:spPr>
          <a:xfrm>
            <a:off x="8432800" y="4902200"/>
            <a:ext cx="304800" cy="177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8592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6400" y="139700"/>
            <a:ext cx="63500" cy="431800"/>
          </a:xfrm>
          <a:prstGeom prst="rect">
            <a:avLst>
              <a:gd name="adj" fmla="val 144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6900" y="101600"/>
            <a:ext cx="65151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1621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repositório para a próxima contratação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96900" y="469900"/>
            <a:ext cx="1310335" cy="190500"/>
          </a:xfrm>
          <a:prstGeom prst="roundRect">
            <a:avLst>
              <a:gd name="adj" fmla="val 48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9900" y="469900"/>
            <a:ext cx="1564335" cy="1905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50" b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MEMÓRIA COMPARTILHADA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7800"/>
            <a:ext cx="1422400" cy="406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762000"/>
            <a:ext cx="9144000" cy="12700"/>
          </a:xfrm>
          <a:prstGeom prst="rect">
            <a:avLst>
              <a:gd name="adj" fmla="val 720000"/>
            </a:avLst>
          </a:prstGeom>
          <a:solidFill>
            <a:srgbClr val="E4EA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06400" y="762000"/>
            <a:ext cx="1397000" cy="381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6400" y="965200"/>
            <a:ext cx="8331200" cy="6223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Escopos, equalizações e preços deixam de depender de arquivos isolados.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06400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6400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1500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Escopos e revisões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71500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Consultar o que foi definido e recuperar a versão usada em cada solicitação.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34267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34267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99367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Equalizações e preços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3399367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Reaproveitar o histórico de comparação e pesquisar referências por item e empreendimento.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62133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62133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27233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5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fornecedores</a:t>
            </a:r>
            <a:endParaRPr lang="en-US" sz="1550" dirty="0"/>
          </a:p>
        </p:txBody>
      </p:sp>
      <p:sp>
        <p:nvSpPr>
          <p:cNvPr id="22" name="Text 18"/>
          <p:cNvSpPr/>
          <p:nvPr/>
        </p:nvSpPr>
        <p:spPr>
          <a:xfrm>
            <a:off x="6227233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Identificação por CNPJ, consulta cadastral, contatos e histórico de participação e avaliação.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06400" y="4546600"/>
            <a:ext cx="8331200" cy="304800"/>
          </a:xfrm>
          <a:prstGeom prst="roundRect">
            <a:avLst>
              <a:gd name="adj" fmla="val 30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2600" y="4610100"/>
            <a:ext cx="38100" cy="1778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35000" y="4546600"/>
            <a:ext cx="8026400" cy="304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i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 pública de CNPJ via BrasilAPI, com prioridade ao cadastro interno e preenchimento manual se necessário.</a:t>
            </a:r>
            <a:endParaRPr lang="en-US" sz="860" dirty="0"/>
          </a:p>
        </p:txBody>
      </p:sp>
      <p:sp>
        <p:nvSpPr>
          <p:cNvPr id="26" name="Text 22"/>
          <p:cNvSpPr/>
          <p:nvPr/>
        </p:nvSpPr>
        <p:spPr>
          <a:xfrm>
            <a:off x="8432800" y="4902200"/>
            <a:ext cx="304800" cy="177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8592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6400" y="139700"/>
            <a:ext cx="63500" cy="431800"/>
          </a:xfrm>
          <a:prstGeom prst="rect">
            <a:avLst>
              <a:gd name="adj" fmla="val 144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6900" y="101600"/>
            <a:ext cx="65151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1621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Entregas atuais e próximas evoluções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96900" y="469900"/>
            <a:ext cx="1104290" cy="190500"/>
          </a:xfrm>
          <a:prstGeom prst="roundRect">
            <a:avLst>
              <a:gd name="adj" fmla="val 48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9900" y="469900"/>
            <a:ext cx="1358290" cy="1905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50" b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ESCOPO DA SOLUÇÃO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7800"/>
            <a:ext cx="1422400" cy="406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762000"/>
            <a:ext cx="9144000" cy="12700"/>
          </a:xfrm>
          <a:prstGeom prst="rect">
            <a:avLst>
              <a:gd name="adj" fmla="val 720000"/>
            </a:avLst>
          </a:prstGeom>
          <a:solidFill>
            <a:srgbClr val="E4EA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06400" y="762000"/>
            <a:ext cx="1397000" cy="381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6400" y="965200"/>
            <a:ext cx="8331200" cy="6223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fluxo já conecta a preparação do escopo à montagem da equalização.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06400" y="1676400"/>
            <a:ext cx="4089400" cy="2730500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6400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1500" y="1803400"/>
            <a:ext cx="3759200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Já disponível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1500" y="2451100"/>
            <a:ext cx="3759200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Escopos com fotos e revisões.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EAP e Excel para cotação.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Carga do escopo na equalização.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Histórico de preços, cadastro e IQF.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Exportação e registro da decisão.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48200" y="1676400"/>
            <a:ext cx="4089400" cy="2730500"/>
          </a:xfrm>
          <a:prstGeom prst="roundRect">
            <a:avLst>
              <a:gd name="adj" fmla="val 3349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48200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13300" y="1803400"/>
            <a:ext cx="3759200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Evoluções futuras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813300" y="2451100"/>
            <a:ext cx="3759200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Convite com envio pelo sistema.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Portal de resposta do fornecedor.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Importação automática das respostas.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Integrações com sistemas corporativos.</a:t>
            </a:r>
            <a:endParaRPr lang="en-US" sz="13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Modelos refinados com o uso das equipes.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06400" y="4546600"/>
            <a:ext cx="8331200" cy="304800"/>
          </a:xfrm>
          <a:prstGeom prst="roundRect">
            <a:avLst>
              <a:gd name="adj" fmla="val 30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82600" y="4610100"/>
            <a:ext cx="38100" cy="1778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5000" y="4546600"/>
            <a:ext cx="8026400" cy="304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i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Evoluções dependem de priorização e validação. Funcionalidade entregue não equivale a ganho já medido.</a:t>
            </a:r>
            <a:endParaRPr lang="en-US" sz="860" dirty="0"/>
          </a:p>
        </p:txBody>
      </p:sp>
      <p:sp>
        <p:nvSpPr>
          <p:cNvPr id="22" name="Text 18"/>
          <p:cNvSpPr/>
          <p:nvPr/>
        </p:nvSpPr>
        <p:spPr>
          <a:xfrm>
            <a:off x="8432800" y="4902200"/>
            <a:ext cx="304800" cy="177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8592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6400" y="139700"/>
            <a:ext cx="63500" cy="431800"/>
          </a:xfrm>
          <a:prstGeom prst="rect">
            <a:avLst>
              <a:gd name="adj" fmla="val 144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6900" y="101600"/>
            <a:ext cx="65151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1621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Medir o processo completo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96900" y="469900"/>
            <a:ext cx="1258824" cy="190500"/>
          </a:xfrm>
          <a:prstGeom prst="roundRect">
            <a:avLst>
              <a:gd name="adj" fmla="val 48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9900" y="469900"/>
            <a:ext cx="1512824" cy="1905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50" b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VALIDAR O GANHO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7800"/>
            <a:ext cx="1422400" cy="406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762000"/>
            <a:ext cx="9144000" cy="12700"/>
          </a:xfrm>
          <a:prstGeom prst="rect">
            <a:avLst>
              <a:gd name="adj" fmla="val 720000"/>
            </a:avLst>
          </a:prstGeom>
          <a:solidFill>
            <a:srgbClr val="E4EA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06400" y="762000"/>
            <a:ext cx="1397000" cy="381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6400" y="965200"/>
            <a:ext cx="8331200" cy="6223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Investir mais atenção no escopo faz sentido se reduzir o esforço total da contratação.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06400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6400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1500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 por etapa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1500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Preparação do escopo, montagem da equalização e duração até a decisão.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34267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34267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99367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Retrabalho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399367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Dúvidas dos fornecedores, itens omitidos e rodadas de correção ou revisão.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62133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62133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27233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Uso pelas equipes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227233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Contratações realizadas, reaproveitamento de escopos e dificuldades de Facilities e Propriedades.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06400" y="4546600"/>
            <a:ext cx="8331200" cy="304800"/>
          </a:xfrm>
          <a:prstGeom prst="roundRect">
            <a:avLst>
              <a:gd name="adj" fmla="val 30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2600" y="4610100"/>
            <a:ext cx="38100" cy="1778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35000" y="4546600"/>
            <a:ext cx="8026400" cy="304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i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Comparar casos equivalentes antes e depois. O ganho de tempo ainda precisa ser demonstrado.</a:t>
            </a:r>
            <a:endParaRPr lang="en-US" sz="860" dirty="0"/>
          </a:p>
        </p:txBody>
      </p:sp>
      <p:sp>
        <p:nvSpPr>
          <p:cNvPr id="26" name="Text 22"/>
          <p:cNvSpPr/>
          <p:nvPr/>
        </p:nvSpPr>
        <p:spPr>
          <a:xfrm>
            <a:off x="8432800" y="4902200"/>
            <a:ext cx="304800" cy="177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8592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406400" y="139700"/>
            <a:ext cx="63500" cy="431800"/>
          </a:xfrm>
          <a:prstGeom prst="rect">
            <a:avLst>
              <a:gd name="adj" fmla="val 144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6900" y="101600"/>
            <a:ext cx="6515100" cy="330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700" b="1" dirty="0">
                <a:solidFill>
                  <a:srgbClr val="16213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Começar melhor para contratar melhor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596900" y="469900"/>
            <a:ext cx="1361846" cy="190500"/>
          </a:xfrm>
          <a:prstGeom prst="roundRect">
            <a:avLst>
              <a:gd name="adj" fmla="val 48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69900" y="469900"/>
            <a:ext cx="1615846" cy="1905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750" b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GESTÃO DE CONTRATAÇÕES</a:t>
            </a:r>
            <a:endParaRPr lang="en-US" sz="7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77800"/>
            <a:ext cx="1422400" cy="4064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0" y="762000"/>
            <a:ext cx="9144000" cy="12700"/>
          </a:xfrm>
          <a:prstGeom prst="rect">
            <a:avLst>
              <a:gd name="adj" fmla="val 720000"/>
            </a:avLst>
          </a:prstGeom>
          <a:solidFill>
            <a:srgbClr val="E4EA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06400" y="762000"/>
            <a:ext cx="1397000" cy="381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06400" y="965200"/>
            <a:ext cx="8331200" cy="6223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500" b="1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 escopo claro dá uma base comum ao fornecedor, ao comprador e ao avaliador.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406400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06400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1500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prepara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1500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 a necessidade e revisa os requisitos antes de pedir preço.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34267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34267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99367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compra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399367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Recebe respostas na estrutura solicitada, confere diferenças e conduz a negociação.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62133" y="1676400"/>
            <a:ext cx="2675467" cy="2730500"/>
          </a:xfrm>
          <a:prstGeom prst="roundRect">
            <a:avLst>
              <a:gd name="adj" fmla="val 3418"/>
            </a:avLst>
          </a:prstGeom>
          <a:solidFill>
            <a:srgbClr val="FFFFFF"/>
          </a:solidFill>
          <a:ln w="12700">
            <a:solidFill>
              <a:srgbClr val="CBD5E4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062133" y="1778000"/>
            <a:ext cx="50800" cy="2527300"/>
          </a:xfrm>
          <a:prstGeom prst="rect">
            <a:avLst>
              <a:gd name="adj" fmla="val 18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27233" y="1803400"/>
            <a:ext cx="2345267" cy="5842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600" b="1" dirty="0">
                <a:solidFill>
                  <a:srgbClr val="003D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Quem decide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227233" y="2451100"/>
            <a:ext cx="2345267" cy="18034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46516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Analisa propostas com mais contexto e registra uma decisão fundamentada.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406400" y="4546600"/>
            <a:ext cx="8331200" cy="304800"/>
          </a:xfrm>
          <a:prstGeom prst="roundRect">
            <a:avLst>
              <a:gd name="adj" fmla="val 30000"/>
            </a:avLst>
          </a:prstGeom>
          <a:solidFill>
            <a:srgbClr val="E9F0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82600" y="4610100"/>
            <a:ext cx="38100" cy="177800"/>
          </a:xfrm>
          <a:prstGeom prst="rect">
            <a:avLst>
              <a:gd name="adj" fmla="val 240000"/>
            </a:avLst>
          </a:prstGeom>
          <a:solidFill>
            <a:srgbClr val="065CA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35000" y="4546600"/>
            <a:ext cx="8026400" cy="304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60" i="1" dirty="0">
                <a:solidFill>
                  <a:srgbClr val="003D7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Próximo passo: aplicar o padrão em contratações reais dos três Megas e acompanhar o retrabalho.</a:t>
            </a:r>
            <a:endParaRPr lang="en-US" sz="860" dirty="0"/>
          </a:p>
        </p:txBody>
      </p:sp>
      <p:sp>
        <p:nvSpPr>
          <p:cNvPr id="26" name="Text 22"/>
          <p:cNvSpPr/>
          <p:nvPr/>
        </p:nvSpPr>
        <p:spPr>
          <a:xfrm>
            <a:off x="8432800" y="4902200"/>
            <a:ext cx="304800" cy="177800"/>
          </a:xfrm>
          <a:prstGeom prst="rect">
            <a:avLst/>
          </a:prstGeom>
          <a:noFill/>
          <a:ln/>
        </p:spPr>
        <p:txBody>
          <a:bodyPr wrap="square" lIns="0" tIns="88900" rIns="88900" bIns="0" rtlCol="0" anchor="ctr"/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8592A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11</Slides>
	<Notes>11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11</vt:i4></vt:variant>
		</vt:vector>
	</HeadingPairs>
	<TitlesOfParts>
		<vt:vector size="14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<vt:lpstr>Slide 11</vt:lpstr>
		</vt:vector>
	</TitlesOfParts>
	<Company>Capital Realty & Demercado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de Contratações</dc:title>
  <dc:subject>Produtividade no processo de contratação</dc:subject>
  <dc:creator>Guilherme Marques</dc:creator>
  <cp:lastModifiedBy>Guilherme Marques</cp:lastModifiedBy>
  <cp:revision>1</cp:revision>
  <dcterms:created xsi:type="dcterms:W3CDTF">2026-09-11T00:01:04Z</dcterms:created>
  <dcterms:modified xsi:type="dcterms:W3CDTF">2026-09-11T00:01:04Z</dcterms:modified>
</cp:coreProperties>
</file>