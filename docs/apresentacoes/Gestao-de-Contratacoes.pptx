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que queremos resolver é a produtividade no processo de contratação. Parte do tempo gasto na equalização é usada para descobrir o que cada fornecedor considerou. A proposta é organizar esse trabalho desde o escopo: definir o que precisamos, pedir a mesma estrutura de resposta e levar esses itens para a comparação. Gestão de Contratações é o novo nome porque o projeto acompanha esse ciclo completo.
Apoio à fala: Produtividade no processo de contratação
Concurso da Melhor Ideia 2026 · Capital Realty &amp; Demercado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Imagine uma proposta de vinte mil reais sem detalhamento. Ela inclui materiais? Instalação? Testes? Limpeza? Outro fornecedor pode ter considerado tudo isso. Comparar apenas o total mistura propostas diferentes. Antes de negociar, a equipe precisa abrir as composições e pedir revisões. É nesse trabalho de esclarecimento e conferência que o processo perde tempo. O valor é um exemplo, não uma compra ou economia apurada.
Apoio à fala: Quando o escopo é ambíguo, cada fornecedor responde a uma pergunta diferente.
Exemplo ilustrativo: preço comparável exige escopo, quantidade e condições equivalentes.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três Megas, algumas pessoas usam mais fotos e menos texto; outras fazem o contrário. O objetivo não é impor a mesma quantidade de fotos ou apagar as diferenças locais. É garantir que todos respondam às mesmas perguntas: onde, o quê, quanto, com qual referência e em quais condições. Facilities e Propriedades passam a contar com uma estrutura comum para preparar e conferir as solicitações.
Apoio à fala: As características locais mudam. As informações necessárias para cotar precisam seguir um padrão.
Padrão comum de informação, com espaço para a necessidade específica de cada empreendimento.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melhora começa antes de recebermos qualquer preço. Montamos o escopo por local e serviço, anexamos as fotos ao grupo e estruturamos os itens na EAP. As condições completam a solicitação ou edital de cotação. A ferramenta ajuda a lembrar e organizar os campos, mas não substitui a revisão técnica. Um formulário preenchido não garante, sozinho, que o escopo esteja correto.
Apoio à fala: Preparar melhor a solicitação de cotação torna explícito o que o fornecedor deve considerar.
A ferramenta organiza o preenchimento; a qualidade técnica depende da revisão do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não começa na equalização. Começa no escopo. Da EAP sai uma planilha Excel com os itens preenchidos e os campos de preço em branco. Enviamos esse arquivo aos fornecedores, que o devolvem preenchido. Na nova cotação, escolhemos a mesma revisão do escopo e carregamos os itens. A equipe informa ou cola os preços. Depois vêm a análise, a negociação e a decisão. Após a entrega, a avaliação alimenta as próximas contratações. O envio e a leitura automática das respostas ainda não fazem parte desse fluxo.
Apoio à fala: A estrutura preparada no início acompanha a cotação e a decisão.
Envio e retorno do Excel são externos ao sistema. Os preços são inseridos ou colados pela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equalização nasce estruturada junto com o escopo. Assim, não precisamos reconstruir a lista inteira depois de receber propostas em formatos diferentes. A mesma revisão enviada ao fornecedor alimenta a EAP da compra. Ainda é necessário conferir a resposta: um fornecedor pode omitir um item ou propor outra marca. A vantagem é termos uma referência clara para identificar e resolver essas diferenças.
Apoio à fala: Os itens solicitados ao fornecedor são a base que o comprador carrega para comparar.
Menos redigitação e uma base comum de comparação. A resposta do fornecedor ainda precisa ser conferida.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recursos são um ganho adicional à melhora do processo. A numeração automática evita manutenção manual da EAP. O histórico ajuda o comprador a questionar um preço. O IQF acrescenta informação sobre a entrega, com indicação de amostra preliminar. O avaliador recebe um comparativo mais organizado, com condições e justificativa. O sistema não negocia pelo comprador e o menor preço não substitui a avaliação do escopo.
Apoio à fala: A padronização organiza a entrada. Os recursos de análise ajudam na decisão.
A negociação ocorre entre as pessoas. O sistema registra e organiza o resultado para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guarda a memória do trabalho. O próximo responsável pode consultar um escopo anterior, uma equalização e os preços registrados. A base de fornecedores usa o CNPJ como referência e consulta dados cadastrais públicos. A consulta externa é feita pela BrasilAPI, que republica dados públicos; não é uma integração direta com a Receita Federal. O cadastro interno vem primeiro e uma indisponibilidade não impede continuar manualmente.
Apoio à fala: Escopos, equalizações e preços deixam de depender de arquivos isolados.
Consulta pública de CNPJ via BrasilAPI, com prioridade ao cadastro interno e preenchimento manual se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já temos o escopo com fotos, a EAP, a planilha em branco para o fornecedor e a carga desses itens na equalização. Também temos o histórico de preços, o cadastro por CNPJ, a avaliação e os documentos de apoio à decisão. O envio de convites, o portal e a importação automática das respostas são próximos passos. Precisamos consolidar o uso e medir o resultado antes de ampliar o processo.
Apoio à fala: O fluxo já conecta a preparação do escopo à montagem da equalização.
Evoluções dependem de priorização e validação. Funcionalidade entregue não equivale a ganho já medido.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indicador não pode olhar apenas os minutos gastos para montar a tabela. Se dedicarmos mais tempo a elaborar um escopo e reduzirmos revisões, esclarecimentos e correções, o ganho pode estar no processo completo. Precisamos acompanhar o tempo por etapa, o número de devoluções e a duração até a decisão. A comparação deve considerar compras semelhantes e separar tempo ativo de trabalho de tempo de espera. Não vou afirmar um percentual de redução sem essa comparação.
Apoio à fala: Investir mais atenção no escopo faz sentido se reduzir o esforço total da contratação.
Comparar casos equivalentes antes e depois. O ganho de tempo ainda precisa ser demonstrado.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é melhorar as atividades das pessoas em cada momento da contratação. Quem prepara dá clareza ao pedido. Quem compra concentra energia na conferência e na negociação. Quem decide recebe um comparativo mais compreensível. A hipótese é simples: um escopo bem elaborado reduz o ruído que se espalharia pelas etapas seguintes. O próximo passo é usar esse padrão nas contratações reais e medir o resultado com as equipes.
Apoio à fala: Um escopo claro dá uma base comum ao fornecedor, ao comprador e ao avaliador.
Próximo passo: aplicar o padrão em contratações reais dos três Megas e acompanhar o retrabalho.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E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06400" y="355600"/>
            <a:ext cx="7874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PRODUTIVIDADE NO PROCESSO DE CONTRATAÇÃO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06400" y="1193800"/>
            <a:ext cx="5461000" cy="1473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de</a:t>
            </a:r>
            <a:endParaRPr lang="en-US" sz="3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Contratações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31800" y="2895600"/>
            <a:ext cx="4762500" cy="838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bom processo começa</a:t>
            </a:r>
            <a:endParaRPr lang="en-US" sz="2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 um escopo claro.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842000" y="1257300"/>
            <a:ext cx="2603500" cy="2603500"/>
          </a:xfrm>
          <a:prstGeom prst="ellipse">
            <a:avLst>
              <a:gd name="adj" fmla="val 351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48120" y="1685544"/>
            <a:ext cx="1280160" cy="1649984"/>
          </a:xfrm>
          <a:prstGeom prst="roundRect">
            <a:avLst>
              <a:gd name="adj" fmla="val 7143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77000" y="1600200"/>
            <a:ext cx="1280160" cy="164998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61912" y="1813560"/>
            <a:ext cx="526288" cy="85344"/>
          </a:xfrm>
          <a:prstGeom prst="rect">
            <a:avLst>
              <a:gd name="adj" fmla="val 107143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61912" y="2112264"/>
            <a:ext cx="128016" cy="128016"/>
          </a:xfrm>
          <a:prstGeom prst="roundRect">
            <a:avLst>
              <a:gd name="adj" fmla="val 71429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03720" y="2140712"/>
            <a:ext cx="597408" cy="56896"/>
          </a:xfrm>
          <a:prstGeom prst="rect">
            <a:avLst>
              <a:gd name="adj" fmla="val 160714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61912" y="2425192"/>
            <a:ext cx="128016" cy="128016"/>
          </a:xfrm>
          <a:prstGeom prst="roundRect">
            <a:avLst>
              <a:gd name="adj" fmla="val 71429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03720" y="2453640"/>
            <a:ext cx="597408" cy="56896"/>
          </a:xfrm>
          <a:prstGeom prst="rect">
            <a:avLst>
              <a:gd name="adj" fmla="val 160714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61912" y="2738120"/>
            <a:ext cx="128016" cy="128016"/>
          </a:xfrm>
          <a:prstGeom prst="roundRect">
            <a:avLst>
              <a:gd name="adj" fmla="val 71429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2766568"/>
            <a:ext cx="597408" cy="56896"/>
          </a:xfrm>
          <a:prstGeom prst="rect">
            <a:avLst>
              <a:gd name="adj" fmla="val 160714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16800" y="2959100"/>
            <a:ext cx="723900" cy="723900"/>
          </a:xfrm>
          <a:prstGeom prst="ellipse">
            <a:avLst>
              <a:gd name="adj" fmla="val 12632"/>
            </a:avLst>
          </a:prstGeom>
          <a:solidFill>
            <a:srgbClr val="1E9E6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80300" y="3086100"/>
            <a:ext cx="596900" cy="495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431800" y="4432300"/>
            <a:ext cx="7874000" cy="279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Guilherme Marques · Melhor Ideia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retrabalho começa antes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06780" y="1542796"/>
            <a:ext cx="1234440" cy="1591056"/>
          </a:xfrm>
          <a:prstGeom prst="roundRect">
            <a:avLst>
              <a:gd name="adj" fmla="val 7407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38200" y="1460500"/>
            <a:ext cx="1234440" cy="159105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16508" y="1666240"/>
            <a:ext cx="507492" cy="82296"/>
          </a:xfrm>
          <a:prstGeom prst="rect">
            <a:avLst>
              <a:gd name="adj" fmla="val 11111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016508" y="1954276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49680" y="1981708"/>
            <a:ext cx="438912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016508" y="2256028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249680" y="2283460"/>
            <a:ext cx="205740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16508" y="2557780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249680" y="2585212"/>
            <a:ext cx="562356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345180" y="1542796"/>
            <a:ext cx="1234440" cy="1591056"/>
          </a:xfrm>
          <a:prstGeom prst="roundRect">
            <a:avLst>
              <a:gd name="adj" fmla="val 7407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276600" y="1460500"/>
            <a:ext cx="1234440" cy="159105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E5A41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454908" y="1666240"/>
            <a:ext cx="507492" cy="82296"/>
          </a:xfrm>
          <a:prstGeom prst="rect">
            <a:avLst>
              <a:gd name="adj" fmla="val 111111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454908" y="1954276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688080" y="1981708"/>
            <a:ext cx="576072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454908" y="2256028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FCE8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3688080" y="2283460"/>
            <a:ext cx="576072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54908" y="2557780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688080" y="2585212"/>
            <a:ext cx="576072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86328" y="2160016"/>
            <a:ext cx="315468" cy="260604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96" b="1" dirty="0">
                <a:solidFill>
                  <a:srgbClr val="8C1D1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?</a:t>
            </a:r>
            <a:endParaRPr lang="en-US" sz="1296" dirty="0"/>
          </a:p>
        </p:txBody>
      </p:sp>
      <p:sp>
        <p:nvSpPr>
          <p:cNvPr id="27" name="Shape 23"/>
          <p:cNvSpPr/>
          <p:nvPr/>
        </p:nvSpPr>
        <p:spPr>
          <a:xfrm>
            <a:off x="5783580" y="1542796"/>
            <a:ext cx="1234440" cy="1591056"/>
          </a:xfrm>
          <a:prstGeom prst="roundRect">
            <a:avLst>
              <a:gd name="adj" fmla="val 7407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15000" y="1460500"/>
            <a:ext cx="1234440" cy="159105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D64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893308" y="1666240"/>
            <a:ext cx="507492" cy="82296"/>
          </a:xfrm>
          <a:prstGeom prst="rect">
            <a:avLst>
              <a:gd name="adj" fmla="val 111111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893308" y="1954276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126480" y="1981708"/>
            <a:ext cx="576072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893308" y="2256028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126480" y="2283460"/>
            <a:ext cx="576072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893308" y="2557780"/>
            <a:ext cx="123444" cy="123444"/>
          </a:xfrm>
          <a:prstGeom prst="roundRect">
            <a:avLst>
              <a:gd name="adj" fmla="val 74074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126480" y="2585212"/>
            <a:ext cx="576072" cy="54864"/>
          </a:xfrm>
          <a:prstGeom prst="rect">
            <a:avLst>
              <a:gd name="adj" fmla="val 166667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359652" y="2667508"/>
            <a:ext cx="548640" cy="27432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4" b="1" dirty="0">
                <a:solidFill>
                  <a:srgbClr val="D645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R$</a:t>
            </a:r>
            <a:endParaRPr lang="en-US" sz="1404" dirty="0"/>
          </a:p>
        </p:txBody>
      </p:sp>
      <p:sp>
        <p:nvSpPr>
          <p:cNvPr id="37" name="Text 33"/>
          <p:cNvSpPr/>
          <p:nvPr/>
        </p:nvSpPr>
        <p:spPr>
          <a:xfrm>
            <a:off x="482600" y="3276600"/>
            <a:ext cx="20701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Detalhado</a:t>
            </a:r>
            <a:endParaRPr lang="en-US" sz="1700" dirty="0"/>
          </a:p>
        </p:txBody>
      </p:sp>
      <p:sp>
        <p:nvSpPr>
          <p:cNvPr id="38" name="Text 34"/>
          <p:cNvSpPr/>
          <p:nvPr/>
        </p:nvSpPr>
        <p:spPr>
          <a:xfrm>
            <a:off x="2921000" y="3276600"/>
            <a:ext cx="20701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Item faltando</a:t>
            </a:r>
            <a:endParaRPr lang="en-US" sz="1700" dirty="0"/>
          </a:p>
        </p:txBody>
      </p:sp>
      <p:sp>
        <p:nvSpPr>
          <p:cNvPr id="39" name="Text 35"/>
          <p:cNvSpPr/>
          <p:nvPr/>
        </p:nvSpPr>
        <p:spPr>
          <a:xfrm>
            <a:off x="5359400" y="3276600"/>
            <a:ext cx="20701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Preço global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7404100" y="1917700"/>
            <a:ext cx="1066800" cy="825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D645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?</a:t>
            </a:r>
            <a:endParaRPr lang="en-US" sz="4500" dirty="0"/>
          </a:p>
        </p:txBody>
      </p:sp>
      <p:sp>
        <p:nvSpPr>
          <p:cNvPr id="41" name="Text 37"/>
          <p:cNvSpPr/>
          <p:nvPr/>
        </p:nvSpPr>
        <p:spPr>
          <a:xfrm>
            <a:off x="762000" y="4102100"/>
            <a:ext cx="7620000" cy="508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mesmo pedido. Três interpretações.</a:t>
            </a:r>
            <a:endParaRPr lang="en-US" sz="2400" dirty="0"/>
          </a:p>
        </p:txBody>
      </p:sp>
      <p:sp>
        <p:nvSpPr>
          <p:cNvPr id="42" name="Text 38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Três Megas. Uma base comum.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25500" y="1549400"/>
            <a:ext cx="1397000" cy="723900"/>
          </a:xfrm>
          <a:prstGeom prst="rect">
            <a:avLst>
              <a:gd name="adj" fmla="val 1263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2000" y="1460500"/>
            <a:ext cx="1524000" cy="101600"/>
          </a:xfrm>
          <a:prstGeom prst="rect">
            <a:avLst>
              <a:gd name="adj" fmla="val 90000"/>
            </a:avLst>
          </a:prstGeom>
          <a:solidFill>
            <a:srgbClr val="151E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25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2573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5621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8669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8000" y="24257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Curitiba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1498600" y="2882900"/>
            <a:ext cx="38100" cy="368300"/>
          </a:xfrm>
          <a:prstGeom prst="rect">
            <a:avLst>
              <a:gd name="adj" fmla="val 240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771900" y="1549400"/>
            <a:ext cx="1397000" cy="723900"/>
          </a:xfrm>
          <a:prstGeom prst="rect">
            <a:avLst>
              <a:gd name="adj" fmla="val 1263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708400" y="1460500"/>
            <a:ext cx="1524000" cy="101600"/>
          </a:xfrm>
          <a:prstGeom prst="rect">
            <a:avLst>
              <a:gd name="adj" fmla="val 90000"/>
            </a:avLst>
          </a:prstGeom>
          <a:solidFill>
            <a:srgbClr val="151E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8989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037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085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133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54400" y="24257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Esteio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4445000" y="2882900"/>
            <a:ext cx="38100" cy="368300"/>
          </a:xfrm>
          <a:prstGeom prst="rect">
            <a:avLst>
              <a:gd name="adj" fmla="val 240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18300" y="1549400"/>
            <a:ext cx="1397000" cy="723900"/>
          </a:xfrm>
          <a:prstGeom prst="rect">
            <a:avLst>
              <a:gd name="adj" fmla="val 1263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654800" y="1460500"/>
            <a:ext cx="1524000" cy="101600"/>
          </a:xfrm>
          <a:prstGeom prst="rect">
            <a:avLst>
              <a:gd name="adj" fmla="val 90000"/>
            </a:avLst>
          </a:prstGeom>
          <a:solidFill>
            <a:srgbClr val="151E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453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1501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4549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759700" y="17399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00800" y="24257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Itajaí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7391400" y="2882900"/>
            <a:ext cx="38100" cy="368300"/>
          </a:xfrm>
          <a:prstGeom prst="rect">
            <a:avLst>
              <a:gd name="adj" fmla="val 240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25500" y="3314700"/>
            <a:ext cx="7493000" cy="838200"/>
          </a:xfrm>
          <a:prstGeom prst="roundRect">
            <a:avLst>
              <a:gd name="adj" fmla="val 10909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1016000" y="3556000"/>
            <a:ext cx="7112000" cy="444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Local  +  serviços  +  fotos  +  itens</a:t>
            </a:r>
            <a:endParaRPr lang="en-US" sz="2300" dirty="0"/>
          </a:p>
        </p:txBody>
      </p:sp>
      <p:sp>
        <p:nvSpPr>
          <p:cNvPr id="34" name="Text 30"/>
          <p:cNvSpPr/>
          <p:nvPr/>
        </p:nvSpPr>
        <p:spPr>
          <a:xfrm>
            <a:off x="825500" y="4470400"/>
            <a:ext cx="7493000" cy="304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Facilities e Propriedades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escopo dá clareza ao pedido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3959225" y="2030730"/>
            <a:ext cx="1314450" cy="1694180"/>
          </a:xfrm>
          <a:prstGeom prst="roundRect">
            <a:avLst>
              <a:gd name="adj" fmla="val 6957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886200" y="1943100"/>
            <a:ext cx="1314450" cy="16941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076065" y="2162175"/>
            <a:ext cx="540385" cy="87630"/>
          </a:xfrm>
          <a:prstGeom prst="rect">
            <a:avLst>
              <a:gd name="adj" fmla="val 104348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076065" y="2468880"/>
            <a:ext cx="131445" cy="131445"/>
          </a:xfrm>
          <a:prstGeom prst="roundRect">
            <a:avLst>
              <a:gd name="adj" fmla="val 6956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24350" y="2498090"/>
            <a:ext cx="613410" cy="58420"/>
          </a:xfrm>
          <a:prstGeom prst="rect">
            <a:avLst>
              <a:gd name="adj" fmla="val 15652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076065" y="2790190"/>
            <a:ext cx="131445" cy="131445"/>
          </a:xfrm>
          <a:prstGeom prst="roundRect">
            <a:avLst>
              <a:gd name="adj" fmla="val 6956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24350" y="2819400"/>
            <a:ext cx="613410" cy="58420"/>
          </a:xfrm>
          <a:prstGeom prst="rect">
            <a:avLst>
              <a:gd name="adj" fmla="val 15652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76065" y="3111500"/>
            <a:ext cx="131445" cy="131445"/>
          </a:xfrm>
          <a:prstGeom prst="roundRect">
            <a:avLst>
              <a:gd name="adj" fmla="val 6956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4350" y="3140710"/>
            <a:ext cx="613410" cy="58420"/>
          </a:xfrm>
          <a:prstGeom prst="rect">
            <a:avLst>
              <a:gd name="adj" fmla="val 15652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117600" y="1574800"/>
            <a:ext cx="1016000" cy="749300"/>
          </a:xfrm>
          <a:prstGeom prst="roundRect">
            <a:avLst>
              <a:gd name="adj" fmla="val 1220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295400" y="1447800"/>
            <a:ext cx="342900" cy="190500"/>
          </a:xfrm>
          <a:prstGeom prst="rect">
            <a:avLst>
              <a:gd name="adj" fmla="val 48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422400" y="1727200"/>
            <a:ext cx="406400" cy="406400"/>
          </a:xfrm>
          <a:prstGeom prst="ellipse">
            <a:avLst>
              <a:gd name="adj" fmla="val 2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511300" y="1816100"/>
            <a:ext cx="228600" cy="228600"/>
          </a:xfrm>
          <a:prstGeom prst="ellipse">
            <a:avLst>
              <a:gd name="adj" fmla="val 40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19100" y="2476500"/>
            <a:ext cx="2413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Fotos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42175" y="14973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0900" y="14478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08215" y="15716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308215" y="17449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448550" y="17614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08215" y="19265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448550" y="19431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08215" y="21082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448550" y="21247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50000" y="2476500"/>
            <a:ext cx="2413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Itens / EAP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1419225" y="3187700"/>
            <a:ext cx="285750" cy="285750"/>
          </a:xfrm>
          <a:prstGeom prst="ellipse">
            <a:avLst>
              <a:gd name="adj" fmla="val 32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257300" y="3540125"/>
            <a:ext cx="609600" cy="495300"/>
          </a:xfrm>
          <a:prstGeom prst="roundRect">
            <a:avLst>
              <a:gd name="adj" fmla="val 1846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352550" y="3883025"/>
            <a:ext cx="161925" cy="333375"/>
          </a:xfrm>
          <a:prstGeom prst="rect">
            <a:avLst>
              <a:gd name="adj" fmla="val 5647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609725" y="3883025"/>
            <a:ext cx="161925" cy="333375"/>
          </a:xfrm>
          <a:prstGeom prst="rect">
            <a:avLst>
              <a:gd name="adj" fmla="val 5647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19100" y="4216400"/>
            <a:ext cx="2413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Local e serviços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7048500" y="3187700"/>
            <a:ext cx="990600" cy="990600"/>
          </a:xfrm>
          <a:prstGeom prst="ellipse">
            <a:avLst>
              <a:gd name="adj" fmla="val 923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7099300" y="3390900"/>
            <a:ext cx="889000" cy="609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3200" dirty="0"/>
          </a:p>
        </p:txBody>
      </p:sp>
      <p:sp>
        <p:nvSpPr>
          <p:cNvPr id="39" name="Text 35"/>
          <p:cNvSpPr/>
          <p:nvPr/>
        </p:nvSpPr>
        <p:spPr>
          <a:xfrm>
            <a:off x="6350000" y="4216400"/>
            <a:ext cx="2413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Condições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2844800" y="2133600"/>
            <a:ext cx="7112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588000" y="2133600"/>
            <a:ext cx="7112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3390900" y="38354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 CLARO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 escopo à próxima contratação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33400" y="1943100"/>
            <a:ext cx="1041400" cy="1041400"/>
          </a:xfrm>
          <a:prstGeom prst="ellipse">
            <a:avLst>
              <a:gd name="adj" fmla="val 878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40105" y="2153666"/>
            <a:ext cx="491490" cy="633476"/>
          </a:xfrm>
          <a:prstGeom prst="roundRect">
            <a:avLst>
              <a:gd name="adj" fmla="val 1860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12800" y="2120900"/>
            <a:ext cx="491490" cy="633476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83793" y="2202815"/>
            <a:ext cx="202057" cy="32766"/>
          </a:xfrm>
          <a:prstGeom prst="rect">
            <a:avLst>
              <a:gd name="adj" fmla="val 27907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83793" y="2317496"/>
            <a:ext cx="49149" cy="49149"/>
          </a:xfrm>
          <a:prstGeom prst="roundRect">
            <a:avLst>
              <a:gd name="adj" fmla="val 18604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76630" y="2328418"/>
            <a:ext cx="229362" cy="21844"/>
          </a:xfrm>
          <a:prstGeom prst="rect">
            <a:avLst>
              <a:gd name="adj" fmla="val 41860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83793" y="2437638"/>
            <a:ext cx="49149" cy="49149"/>
          </a:xfrm>
          <a:prstGeom prst="roundRect">
            <a:avLst>
              <a:gd name="adj" fmla="val 18604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76630" y="2448560"/>
            <a:ext cx="229362" cy="21844"/>
          </a:xfrm>
          <a:prstGeom prst="rect">
            <a:avLst>
              <a:gd name="adj" fmla="val 41860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83793" y="2557780"/>
            <a:ext cx="49149" cy="49149"/>
          </a:xfrm>
          <a:prstGeom prst="roundRect">
            <a:avLst>
              <a:gd name="adj" fmla="val 18604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76630" y="2568702"/>
            <a:ext cx="229362" cy="21844"/>
          </a:xfrm>
          <a:prstGeom prst="rect">
            <a:avLst>
              <a:gd name="adj" fmla="val 41860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17500" y="3200400"/>
            <a:ext cx="147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638300" y="2374900"/>
            <a:ext cx="2413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968500" y="1943100"/>
            <a:ext cx="1041400" cy="1041400"/>
          </a:xfrm>
          <a:prstGeom prst="ellipse">
            <a:avLst>
              <a:gd name="adj" fmla="val 878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200275" y="20307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159000" y="19812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266315" y="21050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266315" y="22783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2406650" y="22948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266315" y="24599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2406650" y="24765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2266315" y="26416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406650" y="26581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752600" y="3200400"/>
            <a:ext cx="147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Cotação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3073400" y="2374900"/>
            <a:ext cx="2413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403600" y="1943100"/>
            <a:ext cx="1041400" cy="1041400"/>
          </a:xfrm>
          <a:prstGeom prst="ellipse">
            <a:avLst>
              <a:gd name="adj" fmla="val 878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635375" y="20307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3594100" y="19812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3701415" y="21050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701415" y="22783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841750" y="22948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3701415" y="24599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841750" y="24765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3701415" y="26416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3841750" y="26581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3187700" y="3200400"/>
            <a:ext cx="147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Resposta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4508500" y="2374900"/>
            <a:ext cx="2413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4838700" y="1943100"/>
            <a:ext cx="1041400" cy="1041400"/>
          </a:xfrm>
          <a:prstGeom prst="ellipse">
            <a:avLst>
              <a:gd name="adj" fmla="val 878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76800" y="2514600"/>
            <a:ext cx="241300" cy="381000"/>
          </a:xfrm>
          <a:prstGeom prst="roundRect">
            <a:avLst>
              <a:gd name="adj" fmla="val 3789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219700" y="2286000"/>
            <a:ext cx="241300" cy="609600"/>
          </a:xfrm>
          <a:prstGeom prst="roundRect">
            <a:avLst>
              <a:gd name="adj" fmla="val 3789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562600" y="2070100"/>
            <a:ext cx="241300" cy="825500"/>
          </a:xfrm>
          <a:prstGeom prst="roundRect">
            <a:avLst>
              <a:gd name="adj" fmla="val 3789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622800" y="3200400"/>
            <a:ext cx="147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Equalização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943600" y="2374900"/>
            <a:ext cx="2413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273800" y="1943100"/>
            <a:ext cx="1041400" cy="1041400"/>
          </a:xfrm>
          <a:prstGeom prst="ellipse">
            <a:avLst>
              <a:gd name="adj" fmla="val 878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1900" y="1981200"/>
            <a:ext cx="990600" cy="990600"/>
          </a:xfrm>
          <a:prstGeom prst="ellipse">
            <a:avLst>
              <a:gd name="adj" fmla="val 923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362700" y="2184400"/>
            <a:ext cx="889000" cy="609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3200" dirty="0"/>
          </a:p>
        </p:txBody>
      </p:sp>
      <p:sp>
        <p:nvSpPr>
          <p:cNvPr id="53" name="Text 49"/>
          <p:cNvSpPr/>
          <p:nvPr/>
        </p:nvSpPr>
        <p:spPr>
          <a:xfrm>
            <a:off x="6057900" y="3200400"/>
            <a:ext cx="147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Decisão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7378700" y="2374900"/>
            <a:ext cx="2413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708900" y="1943100"/>
            <a:ext cx="1041400" cy="1041400"/>
          </a:xfrm>
          <a:prstGeom prst="ellipse">
            <a:avLst>
              <a:gd name="adj" fmla="val 878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7747000" y="19812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848600" y="20447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747000" y="22606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7848600" y="23241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47000" y="25400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848600" y="26035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7493000" y="3200400"/>
            <a:ext cx="147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Memória</a:t>
            </a:r>
            <a:endParaRPr lang="en-US" sz="1300" dirty="0"/>
          </a:p>
        </p:txBody>
      </p:sp>
      <p:sp>
        <p:nvSpPr>
          <p:cNvPr id="63" name="Text 59"/>
          <p:cNvSpPr/>
          <p:nvPr/>
        </p:nvSpPr>
        <p:spPr>
          <a:xfrm>
            <a:off x="635000" y="1155700"/>
            <a:ext cx="7874000" cy="431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Uma estrutura acompanha todo o ciclo</a:t>
            </a:r>
            <a:endParaRPr lang="en-US" sz="2500" dirty="0"/>
          </a:p>
        </p:txBody>
      </p:sp>
      <p:sp>
        <p:nvSpPr>
          <p:cNvPr id="64" name="Text 60"/>
          <p:cNvSpPr/>
          <p:nvPr/>
        </p:nvSpPr>
        <p:spPr>
          <a:xfrm>
            <a:off x="635000" y="4279900"/>
            <a:ext cx="78740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Excel: envio e retorno externos · Preços inseridos pela equipe</a:t>
            </a:r>
            <a:endParaRPr lang="en-US" sz="1200" dirty="0"/>
          </a:p>
        </p:txBody>
      </p:sp>
      <p:sp>
        <p:nvSpPr>
          <p:cNvPr id="65" name="Text 61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mesma EAP, do início ao fim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198880" y="1786636"/>
            <a:ext cx="1463040" cy="1885696"/>
          </a:xfrm>
          <a:prstGeom prst="roundRect">
            <a:avLst>
              <a:gd name="adj" fmla="val 625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117600" y="1689100"/>
            <a:ext cx="1463040" cy="188569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28928" y="1932940"/>
            <a:ext cx="601472" cy="97536"/>
          </a:xfrm>
          <a:prstGeom prst="rect">
            <a:avLst>
              <a:gd name="adj" fmla="val 9375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328928" y="2274316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605280" y="2306828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28928" y="2631948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605280" y="2664460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328928" y="2989580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605280" y="3022092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09600" y="11430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2959100" y="2413000"/>
            <a:ext cx="6223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069080" y="1786636"/>
            <a:ext cx="1463040" cy="1885696"/>
          </a:xfrm>
          <a:prstGeom prst="roundRect">
            <a:avLst>
              <a:gd name="adj" fmla="val 625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987800" y="1689100"/>
            <a:ext cx="1463040" cy="188569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199128" y="1932940"/>
            <a:ext cx="601472" cy="97536"/>
          </a:xfrm>
          <a:prstGeom prst="rect">
            <a:avLst>
              <a:gd name="adj" fmla="val 9375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199128" y="2274316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75480" y="2306828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199128" y="2631948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75480" y="2664460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199128" y="2989580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475480" y="3022092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751832" y="3119628"/>
            <a:ext cx="650240" cy="32512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64" b="1" dirty="0">
                <a:solidFill>
                  <a:srgbClr val="065CA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R$</a:t>
            </a:r>
            <a:endParaRPr lang="en-US" sz="1664" dirty="0"/>
          </a:p>
        </p:txBody>
      </p:sp>
      <p:sp>
        <p:nvSpPr>
          <p:cNvPr id="29" name="Text 25"/>
          <p:cNvSpPr/>
          <p:nvPr/>
        </p:nvSpPr>
        <p:spPr>
          <a:xfrm>
            <a:off x="3479800" y="11430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Fornecedor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829300" y="2413000"/>
            <a:ext cx="6223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939280" y="1786636"/>
            <a:ext cx="1463040" cy="1885696"/>
          </a:xfrm>
          <a:prstGeom prst="roundRect">
            <a:avLst>
              <a:gd name="adj" fmla="val 625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858000" y="1689100"/>
            <a:ext cx="1463040" cy="188569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069328" y="1932940"/>
            <a:ext cx="601472" cy="97536"/>
          </a:xfrm>
          <a:prstGeom prst="rect">
            <a:avLst>
              <a:gd name="adj" fmla="val 9375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069328" y="2274316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345680" y="2306828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069328" y="2631948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345680" y="2664460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069328" y="2989580"/>
            <a:ext cx="146304" cy="146304"/>
          </a:xfrm>
          <a:prstGeom prst="roundRect">
            <a:avLst>
              <a:gd name="adj" fmla="val 625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345680" y="3022092"/>
            <a:ext cx="682752" cy="65024"/>
          </a:xfrm>
          <a:prstGeom prst="rect">
            <a:avLst>
              <a:gd name="adj" fmla="val 140625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7622032" y="3119628"/>
            <a:ext cx="650240" cy="32512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64" b="1" dirty="0">
                <a:solidFill>
                  <a:srgbClr val="065CA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R$</a:t>
            </a:r>
            <a:endParaRPr lang="en-US" sz="1664" dirty="0"/>
          </a:p>
        </p:txBody>
      </p:sp>
      <p:sp>
        <p:nvSpPr>
          <p:cNvPr id="41" name="Text 37"/>
          <p:cNvSpPr/>
          <p:nvPr/>
        </p:nvSpPr>
        <p:spPr>
          <a:xfrm>
            <a:off x="6350000" y="11430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Equalização</a:t>
            </a:r>
            <a:endParaRPr lang="en-US" sz="1900" dirty="0"/>
          </a:p>
        </p:txBody>
      </p:sp>
      <p:sp>
        <p:nvSpPr>
          <p:cNvPr id="42" name="Text 38"/>
          <p:cNvSpPr/>
          <p:nvPr/>
        </p:nvSpPr>
        <p:spPr>
          <a:xfrm>
            <a:off x="914400" y="4076700"/>
            <a:ext cx="7315200" cy="495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itens seguem. Os preços entram.</a:t>
            </a:r>
            <a:endParaRPr lang="en-US" sz="2600" dirty="0"/>
          </a:p>
        </p:txBody>
      </p:sp>
      <p:sp>
        <p:nvSpPr>
          <p:cNvPr id="43" name="Text 39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 contexto para decidir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337685" y="2349500"/>
            <a:ext cx="438150" cy="438150"/>
          </a:xfrm>
          <a:prstGeom prst="ellipse">
            <a:avLst>
              <a:gd name="adj" fmla="val 2087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089400" y="2889885"/>
            <a:ext cx="934720" cy="759460"/>
          </a:xfrm>
          <a:prstGeom prst="roundRect">
            <a:avLst>
              <a:gd name="adj" fmla="val 1204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35450" y="3415665"/>
            <a:ext cx="248285" cy="511175"/>
          </a:xfrm>
          <a:prstGeom prst="rect">
            <a:avLst>
              <a:gd name="adj" fmla="val 36829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29785" y="3415665"/>
            <a:ext cx="248285" cy="511175"/>
          </a:xfrm>
          <a:prstGeom prst="rect">
            <a:avLst>
              <a:gd name="adj" fmla="val 36829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323975" y="14084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82700" y="13589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90015" y="1482725"/>
            <a:ext cx="305435" cy="49530"/>
          </a:xfrm>
          <a:prstGeom prst="rect">
            <a:avLst>
              <a:gd name="adj" fmla="val 18461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390015" y="16560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530350" y="16725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390015" y="18376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530350" y="18542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390015" y="20193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530350" y="20358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19100" y="23876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EAP e marcas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743700" y="1892300"/>
            <a:ext cx="241300" cy="381000"/>
          </a:xfrm>
          <a:prstGeom prst="roundRect">
            <a:avLst>
              <a:gd name="adj" fmla="val 3789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086600" y="1663700"/>
            <a:ext cx="241300" cy="609600"/>
          </a:xfrm>
          <a:prstGeom prst="roundRect">
            <a:avLst>
              <a:gd name="adj" fmla="val 3789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429500" y="1447800"/>
            <a:ext cx="241300" cy="825500"/>
          </a:xfrm>
          <a:prstGeom prst="roundRect">
            <a:avLst>
              <a:gd name="adj" fmla="val 3789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032500" y="23876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Preços anteriores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1130300" y="3302000"/>
            <a:ext cx="990600" cy="990600"/>
          </a:xfrm>
          <a:prstGeom prst="ellipse">
            <a:avLst>
              <a:gd name="adj" fmla="val 923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181100" y="3505200"/>
            <a:ext cx="889000" cy="609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419100" y="43307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IQF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6937375" y="33515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896100" y="33020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003415" y="3425825"/>
            <a:ext cx="305435" cy="49530"/>
          </a:xfrm>
          <a:prstGeom prst="rect">
            <a:avLst>
              <a:gd name="adj" fmla="val 18461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003415" y="35991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143750" y="36156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003415" y="37807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143750" y="37973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003415" y="39624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143750" y="39789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032500" y="43307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Parecer e negociação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3263900" y="1600200"/>
            <a:ext cx="2667000" cy="444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Quem avalia</a:t>
            </a:r>
            <a:endParaRPr lang="en-US" sz="2200" dirty="0"/>
          </a:p>
        </p:txBody>
      </p:sp>
      <p:sp>
        <p:nvSpPr>
          <p:cNvPr id="40" name="Shape 36"/>
          <p:cNvSpPr/>
          <p:nvPr/>
        </p:nvSpPr>
        <p:spPr>
          <a:xfrm>
            <a:off x="2895600" y="2768600"/>
            <a:ext cx="6096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626100" y="2768600"/>
            <a:ext cx="6096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contratação deixa memória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3225800" y="1816100"/>
            <a:ext cx="2692400" cy="2070100"/>
          </a:xfrm>
          <a:prstGeom prst="roundRect">
            <a:avLst>
              <a:gd name="adj" fmla="val 4417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064000" y="21971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165600" y="22606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064000" y="24765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5600" y="25400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064000" y="27559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165600" y="28194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403600" y="3302000"/>
            <a:ext cx="23495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Memória comum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254125" y="14516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219200" y="14097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310005" y="15144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310005" y="16611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428750" y="16751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310005" y="18148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428750" y="18288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10005" y="19685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428750" y="19824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96900" y="23368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Escopos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842125" y="14516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07200" y="14097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98005" y="15144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898005" y="16611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016750" y="16751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898005" y="18148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016750" y="18288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98005" y="19685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016750" y="19824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184900" y="23368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Equalizações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1254125" y="32550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219200" y="32131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310005" y="33178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310005" y="34645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1428750" y="34785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310005" y="36182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428750" y="36322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10005" y="37719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428750" y="37858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596900" y="41402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Preços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524625" y="32550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489700" y="32131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580505" y="33178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580505" y="34645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699250" y="34785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580505" y="36182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699250" y="36322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6580505" y="37719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699250" y="37858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867400" y="41402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Fornecedores / CNPJ</a:t>
            </a:r>
            <a:endParaRPr lang="en-US" sz="1400" dirty="0"/>
          </a:p>
        </p:txBody>
      </p:sp>
      <p:sp>
        <p:nvSpPr>
          <p:cNvPr id="56" name="Text 52"/>
          <p:cNvSpPr/>
          <p:nvPr/>
        </p:nvSpPr>
        <p:spPr>
          <a:xfrm>
            <a:off x="889000" y="4419600"/>
            <a:ext cx="7366000" cy="368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próximo projeto aproveita o que já aprendemos.</a:t>
            </a:r>
            <a:endParaRPr lang="en-US" sz="2100" dirty="0"/>
          </a:p>
        </p:txBody>
      </p:sp>
      <p:sp>
        <p:nvSpPr>
          <p:cNvPr id="57" name="Text 53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já temos. O que vem depois.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82600" y="1231900"/>
            <a:ext cx="3949700" cy="3251200"/>
          </a:xfrm>
          <a:prstGeom prst="roundRect">
            <a:avLst>
              <a:gd name="adj" fmla="val 2813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11700" y="1231900"/>
            <a:ext cx="3949700" cy="325120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9050">
            <a:solidFill>
              <a:srgbClr val="CBD5E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23900" y="1473200"/>
            <a:ext cx="3429000" cy="431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Hoje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4953000" y="1473200"/>
            <a:ext cx="3429000" cy="431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Próximos passos</a:t>
            </a:r>
            <a:endParaRPr lang="en-US" sz="2500" dirty="0"/>
          </a:p>
        </p:txBody>
      </p:sp>
      <p:sp>
        <p:nvSpPr>
          <p:cNvPr id="12" name="Shape 8"/>
          <p:cNvSpPr/>
          <p:nvPr/>
        </p:nvSpPr>
        <p:spPr>
          <a:xfrm>
            <a:off x="1905000" y="2133600"/>
            <a:ext cx="990600" cy="990600"/>
          </a:xfrm>
          <a:prstGeom prst="ellipse">
            <a:avLst>
              <a:gd name="adj" fmla="val 923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955800" y="2336800"/>
            <a:ext cx="889000" cy="609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3200" dirty="0"/>
          </a:p>
        </p:txBody>
      </p:sp>
      <p:sp>
        <p:nvSpPr>
          <p:cNvPr id="14" name="Shape 10"/>
          <p:cNvSpPr/>
          <p:nvPr/>
        </p:nvSpPr>
        <p:spPr>
          <a:xfrm>
            <a:off x="6353175" y="21831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11900" y="21336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8592A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19215" y="2257425"/>
            <a:ext cx="305435" cy="49530"/>
          </a:xfrm>
          <a:prstGeom prst="rect">
            <a:avLst>
              <a:gd name="adj" fmla="val 184615"/>
            </a:avLst>
          </a:prstGeom>
          <a:solidFill>
            <a:srgbClr val="8592A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19215" y="24307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8592A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559550" y="24472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19215" y="26123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8592A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59550" y="26289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19215" y="27940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8592A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559550" y="28105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47700" y="33782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 → Excel → Equalização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Histórico · CNPJ · IQF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4826000" y="3378200"/>
            <a:ext cx="3746500" cy="876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Convites · Portal</a:t>
            </a:r>
            <a:endParaRPr lang="en-US" sz="1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Importação automática</a:t>
            </a:r>
            <a:endParaRPr lang="en-US" sz="1700" dirty="0"/>
          </a:p>
        </p:txBody>
      </p:sp>
      <p:sp>
        <p:nvSpPr>
          <p:cNvPr id="25" name="Text 21"/>
          <p:cNvSpPr/>
          <p:nvPr/>
        </p:nvSpPr>
        <p:spPr>
          <a:xfrm>
            <a:off x="609600" y="4660900"/>
            <a:ext cx="7924800" cy="279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Evoluções a priorizar e validar com as equipes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ganho está no processo inteiro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76300" y="1714500"/>
            <a:ext cx="1714500" cy="1714500"/>
          </a:xfrm>
          <a:prstGeom prst="ellipse">
            <a:avLst>
              <a:gd name="adj" fmla="val 5333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257300" y="2120900"/>
            <a:ext cx="889000" cy="889000"/>
          </a:xfrm>
          <a:prstGeom prst="ellipse">
            <a:avLst>
              <a:gd name="adj" fmla="val 10286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676400" y="2298700"/>
            <a:ext cx="50800" cy="292100"/>
          </a:xfrm>
          <a:prstGeom prst="rect">
            <a:avLst>
              <a:gd name="adj" fmla="val 180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676400" y="2552700"/>
            <a:ext cx="279400" cy="50800"/>
          </a:xfrm>
          <a:prstGeom prst="rect">
            <a:avLst>
              <a:gd name="adj" fmla="val 180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9900" y="3606800"/>
            <a:ext cx="2540000" cy="419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Tempo total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3708400" y="1714500"/>
            <a:ext cx="1714500" cy="1714500"/>
          </a:xfrm>
          <a:prstGeom prst="ellipse">
            <a:avLst>
              <a:gd name="adj" fmla="val 5333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244975" y="21323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203700" y="20828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11015" y="22066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311015" y="23799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51350" y="23964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311015" y="25615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451350" y="25781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11015" y="27432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451350" y="27597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302000" y="3606800"/>
            <a:ext cx="2540000" cy="419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Revisões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6540500" y="1714500"/>
            <a:ext cx="1714500" cy="1714500"/>
          </a:xfrm>
          <a:prstGeom prst="ellipse">
            <a:avLst>
              <a:gd name="adj" fmla="val 5333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85025" y="2082800"/>
            <a:ext cx="285750" cy="285750"/>
          </a:xfrm>
          <a:prstGeom prst="ellipse">
            <a:avLst>
              <a:gd name="adj" fmla="val 32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023100" y="2435225"/>
            <a:ext cx="609600" cy="495300"/>
          </a:xfrm>
          <a:prstGeom prst="roundRect">
            <a:avLst>
              <a:gd name="adj" fmla="val 1846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118350" y="2778125"/>
            <a:ext cx="161925" cy="333375"/>
          </a:xfrm>
          <a:prstGeom prst="rect">
            <a:avLst>
              <a:gd name="adj" fmla="val 5647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75525" y="2778125"/>
            <a:ext cx="161925" cy="333375"/>
          </a:xfrm>
          <a:prstGeom prst="rect">
            <a:avLst>
              <a:gd name="adj" fmla="val 5647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134100" y="3606800"/>
            <a:ext cx="2540000" cy="419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Uso pelas equipes</a:t>
            </a:r>
            <a:endParaRPr lang="en-US" sz="1900" dirty="0"/>
          </a:p>
        </p:txBody>
      </p:sp>
      <p:sp>
        <p:nvSpPr>
          <p:cNvPr id="30" name="Text 26"/>
          <p:cNvSpPr/>
          <p:nvPr/>
        </p:nvSpPr>
        <p:spPr>
          <a:xfrm>
            <a:off x="660400" y="1143000"/>
            <a:ext cx="782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Mais atenção no início. Menos retrabalho depois.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889000" y="4495800"/>
            <a:ext cx="7366000" cy="304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Hipótese a validar em contratações comparáveis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8458200" y="4851400"/>
            <a:ext cx="444500" cy="190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E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06400" y="355600"/>
            <a:ext cx="7874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DE CONTRATAÇÕES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44500" y="1054100"/>
            <a:ext cx="8255000" cy="1193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Começar melhor.</a:t>
            </a:r>
            <a:endParaRPr lang="en-US" sz="3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Contratar melhor.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1442720" y="2705100"/>
            <a:ext cx="304800" cy="304800"/>
          </a:xfrm>
          <a:prstGeom prst="ellipse">
            <a:avLst>
              <a:gd name="adj" fmla="val 3000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70000" y="3081020"/>
            <a:ext cx="650240" cy="528320"/>
          </a:xfrm>
          <a:prstGeom prst="roundRect">
            <a:avLst>
              <a:gd name="adj" fmla="val 17308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71600" y="3446780"/>
            <a:ext cx="172720" cy="355600"/>
          </a:xfrm>
          <a:prstGeom prst="rect">
            <a:avLst>
              <a:gd name="adj" fmla="val 5294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45920" y="3446780"/>
            <a:ext cx="172720" cy="355600"/>
          </a:xfrm>
          <a:prstGeom prst="rect">
            <a:avLst>
              <a:gd name="adj" fmla="val 5294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4200" y="4000500"/>
            <a:ext cx="2108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Preparar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476500" y="3187700"/>
            <a:ext cx="6858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27220" y="2705100"/>
            <a:ext cx="304800" cy="304800"/>
          </a:xfrm>
          <a:prstGeom prst="ellipse">
            <a:avLst>
              <a:gd name="adj" fmla="val 3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4500" y="3081020"/>
            <a:ext cx="650240" cy="528320"/>
          </a:xfrm>
          <a:prstGeom prst="roundRect">
            <a:avLst>
              <a:gd name="adj" fmla="val 17308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56100" y="3446780"/>
            <a:ext cx="172720" cy="355600"/>
          </a:xfrm>
          <a:prstGeom prst="rect">
            <a:avLst>
              <a:gd name="adj" fmla="val 5294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30420" y="3446780"/>
            <a:ext cx="172720" cy="355600"/>
          </a:xfrm>
          <a:prstGeom prst="rect">
            <a:avLst>
              <a:gd name="adj" fmla="val 5294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68700" y="4000500"/>
            <a:ext cx="2108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Comprar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61000" y="3187700"/>
            <a:ext cx="6858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11720" y="2705100"/>
            <a:ext cx="304800" cy="304800"/>
          </a:xfrm>
          <a:prstGeom prst="ellipse">
            <a:avLst>
              <a:gd name="adj" fmla="val 3000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239000" y="3081020"/>
            <a:ext cx="650240" cy="528320"/>
          </a:xfrm>
          <a:prstGeom prst="roundRect">
            <a:avLst>
              <a:gd name="adj" fmla="val 17308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40600" y="3446780"/>
            <a:ext cx="172720" cy="355600"/>
          </a:xfrm>
          <a:prstGeom prst="rect">
            <a:avLst>
              <a:gd name="adj" fmla="val 5294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14920" y="3446780"/>
            <a:ext cx="172720" cy="355600"/>
          </a:xfrm>
          <a:prstGeom prst="rect">
            <a:avLst>
              <a:gd name="adj" fmla="val 5294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53200" y="4000500"/>
            <a:ext cx="2108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Decidir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82600" y="4737100"/>
            <a:ext cx="8128000" cy="254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Próximo passo: aplicar nos três Megas e medir o retrabalho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11</Slides>
	<Notes>11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11</vt:i4></vt:variant>
		</vt:vector>
	</HeadingPairs>
	<TitlesOfParts>
		<vt:vector size="14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
		</vt:vector>
	</TitlesOfParts>
	<Company>Capital Realty & Demercado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Gestão de Contratações</dc:title>
  <dc:subject>Produtividade no processo de contratação</dc:subject>
  <dc:creator>Guilherme Marques</dc:creator>
  <cp:lastModifiedBy>Guilherme Marques</cp:lastModifiedBy>
  <cp:revision>1</cp:revision>
  <dcterms:created xsi:type="dcterms:W3CDTF">2026-09-11T00:16:58Z</dcterms:created>
  <dcterms:modified xsi:type="dcterms:W3CDTF">2026-09-11T00:16:58Z</dcterms:modified>
</cp:coreProperties>
</file>